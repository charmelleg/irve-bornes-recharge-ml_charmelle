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Série</c:v>
                </c:pt>
              </c:strCache>
            </c:strRef>
          </c:tx>
          <c:spPr>
            <a:solidFill>
              <a:srgbClr val="E34948"/>
            </a:solidFill>
          </c:spPr>
          <c:cat>
            <c:strRef>
              <c:f>Sheet1!$A$2:$A$9</c:f>
              <c:strCache>
                <c:ptCount val="8"/>
                <c:pt idx="0">
                  <c:v>Mayotte</c:v>
                </c:pt>
                <c:pt idx="1">
                  <c:v>Guyane</c:v>
                </c:pt>
                <c:pt idx="2">
                  <c:v>Normandie</c:v>
                </c:pt>
                <c:pt idx="3">
                  <c:v>Martinique</c:v>
                </c:pt>
                <c:pt idx="4">
                  <c:v>Bourgogne-Franche-Comté</c:v>
                </c:pt>
                <c:pt idx="5">
                  <c:v>Grand Est</c:v>
                </c:pt>
                <c:pt idx="6">
                  <c:v>Hauts-de-France</c:v>
                </c:pt>
                <c:pt idx="7">
                  <c:v>La Réunion</c:v>
                </c:pt>
              </c:strCache>
            </c:strRef>
          </c:cat>
          <c:val>
            <c:numRef>
              <c:f>Sheet1!$B$2:$B$9</c:f>
              <c:numCache>
                <c:formatCode>General</c:formatCode>
                <c:ptCount val="8"/>
                <c:pt idx="0">
                  <c:v>256518</c:v>
                </c:pt>
                <c:pt idx="1">
                  <c:v>137431</c:v>
                </c:pt>
                <c:pt idx="2">
                  <c:v>46391</c:v>
                </c:pt>
                <c:pt idx="3">
                  <c:v>40102</c:v>
                </c:pt>
                <c:pt idx="4">
                  <c:v>28393</c:v>
                </c:pt>
                <c:pt idx="5">
                  <c:v>21448</c:v>
                </c:pt>
                <c:pt idx="6">
                  <c:v>16142</c:v>
                </c:pt>
                <c:pt idx="7">
                  <c:v>13586</c:v>
                </c:pt>
              </c:numCache>
            </c:numRef>
          </c:val>
        </c:ser>
        <c:dLbls>
          <c:numFmt formatCode="#,##0" sourceLinked="0"/>
          <c:txPr>
            <a:bodyPr/>
            <a:lstStyle/>
            <a:p>
              <a:pPr>
                <a:defRPr sz="1300">
                  <a:solidFill>
                    <a:srgbClr val="1F2937"/>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C3C2B7"/>
            </a:solidFill>
          </a:ln>
        </c:spPr>
        <c:txPr>
          <a:bodyPr/>
          <a:lstStyle/>
          <a:p>
            <a:pPr>
              <a:defRPr sz="1300">
                <a:solidFill>
                  <a:srgbClr val="1F2937"/>
                </a:solidFil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300">
          <a:solidFill>
            <a:srgbClr val="1F2937"/>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Série</c:v>
                </c:pt>
              </c:strCache>
            </c:strRef>
          </c:tx>
          <c:spPr>
            <a:solidFill>
              <a:srgbClr val="2A78D6"/>
            </a:solidFill>
          </c:spPr>
          <c:cat>
            <c:strRef>
              <c:f>Sheet1!$A$2:$A$9</c:f>
              <c:strCache>
                <c:ptCount val="8"/>
                <c:pt idx="0">
                  <c:v>2018</c:v>
                </c:pt>
                <c:pt idx="1">
                  <c:v>2019</c:v>
                </c:pt>
                <c:pt idx="2">
                  <c:v>2020</c:v>
                </c:pt>
                <c:pt idx="3">
                  <c:v>2021</c:v>
                </c:pt>
                <c:pt idx="4">
                  <c:v>2022</c:v>
                </c:pt>
                <c:pt idx="5">
                  <c:v>2023</c:v>
                </c:pt>
                <c:pt idx="6">
                  <c:v>2024</c:v>
                </c:pt>
                <c:pt idx="7">
                  <c:v>2025</c:v>
                </c:pt>
              </c:strCache>
            </c:strRef>
          </c:cat>
          <c:val>
            <c:numRef>
              <c:f>Sheet1!$B$2:$B$9</c:f>
              <c:numCache>
                <c:formatCode>General</c:formatCode>
                <c:ptCount val="8"/>
                <c:pt idx="0">
                  <c:v>514</c:v>
                </c:pt>
                <c:pt idx="1">
                  <c:v>1813</c:v>
                </c:pt>
                <c:pt idx="2">
                  <c:v>2241</c:v>
                </c:pt>
                <c:pt idx="3">
                  <c:v>10171</c:v>
                </c:pt>
                <c:pt idx="4">
                  <c:v>13348</c:v>
                </c:pt>
                <c:pt idx="5">
                  <c:v>19872</c:v>
                </c:pt>
                <c:pt idx="6">
                  <c:v>19615</c:v>
                </c:pt>
                <c:pt idx="7">
                  <c:v>21500</c:v>
                </c:pt>
              </c:numCache>
            </c:numRef>
          </c:val>
        </c:ser>
        <c:dLbls>
          <c:numFmt formatCode="#,##0" sourceLinked="0"/>
          <c:txPr>
            <a:bodyPr/>
            <a:lstStyle/>
            <a:p>
              <a:pPr>
                <a:defRPr sz="1200">
                  <a:solidFill>
                    <a:srgbClr val="1F2937"/>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C3C2B7"/>
            </a:solidFill>
          </a:ln>
        </c:spPr>
        <c:txPr>
          <a:bodyPr/>
          <a:lstStyle/>
          <a:p>
            <a:pPr>
              <a:defRPr sz="1300">
                <a:solidFill>
                  <a:srgbClr val="1F2937"/>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300">
          <a:solidFill>
            <a:srgbClr val="1F2937"/>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Série</c:v>
                </c:pt>
              </c:strCache>
            </c:strRef>
          </c:tx>
          <c:spPr>
            <a:solidFill>
              <a:srgbClr val="2A78D6"/>
            </a:solidFill>
          </c:spPr>
          <c:cat>
            <c:strRef>
              <c:f>Sheet1!$A$2:$A$7</c:f>
              <c:strCache>
                <c:ptCount val="6"/>
                <c:pt idx="0">
                  <c:v>100</c:v>
                </c:pt>
                <c:pt idx="1">
                  <c:v>500</c:v>
                </c:pt>
                <c:pt idx="2">
                  <c:v>1 000</c:v>
                </c:pt>
                <c:pt idx="3">
                  <c:v>2 000</c:v>
                </c:pt>
                <c:pt idx="4">
                  <c:v>5 000</c:v>
                </c:pt>
                <c:pt idx="5">
                  <c:v>10 000</c:v>
                </c:pt>
              </c:strCache>
            </c:strRef>
          </c:cat>
          <c:val>
            <c:numRef>
              <c:f>Sheet1!$B$2:$B$7</c:f>
              <c:numCache>
                <c:formatCode>General</c:formatCode>
                <c:ptCount val="6"/>
                <c:pt idx="0">
                  <c:v>3</c:v>
                </c:pt>
                <c:pt idx="1">
                  <c:v>26</c:v>
                </c:pt>
                <c:pt idx="2">
                  <c:v>49</c:v>
                </c:pt>
                <c:pt idx="3">
                  <c:v>73</c:v>
                </c:pt>
                <c:pt idx="4">
                  <c:v>91</c:v>
                </c:pt>
                <c:pt idx="5">
                  <c:v>97</c:v>
                </c:pt>
              </c:numCache>
            </c:numRef>
          </c:val>
        </c:ser>
        <c:dLbls>
          <c:numFmt formatCode="0&quot; %&quot;" sourceLinked="0"/>
          <c:txPr>
            <a:bodyPr/>
            <a:lstStyle/>
            <a:p>
              <a:pPr>
                <a:defRPr sz="1300">
                  <a:solidFill>
                    <a:srgbClr val="1F2937"/>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C3C2B7"/>
            </a:solidFill>
          </a:ln>
        </c:spPr>
        <c:txPr>
          <a:bodyPr/>
          <a:lstStyle/>
          <a:p>
            <a:pPr>
              <a:defRPr sz="1300">
                <a:solidFill>
                  <a:srgbClr val="1F2937"/>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300">
          <a:solidFill>
            <a:srgbClr val="1F2937"/>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Série</c:v>
                </c:pt>
              </c:strCache>
            </c:strRef>
          </c:tx>
          <c:spPr>
            <a:solidFill>
              <a:srgbClr val="2A78D6"/>
            </a:solidFill>
          </c:spPr>
          <c:dPt>
            <c:idx val="3"/>
            <c:spPr>
              <a:solidFill>
                <a:srgbClr val="5B6370"/>
              </a:solidFill>
            </c:spPr>
          </c:dPt>
          <c:cat>
            <c:strRef>
              <c:f>Sheet1!$A$2:$A$5</c:f>
              <c:strCache>
                <c:ptCount val="4"/>
                <c:pt idx="0">
                  <c:v>Logistic Regression (retenu)</c:v>
                </c:pt>
                <c:pt idx="1">
                  <c:v>Random Forest</c:v>
                </c:pt>
                <c:pt idx="2">
                  <c:v>XGBoost</c:v>
                </c:pt>
                <c:pt idx="3">
                  <c:v>Nombre d'habitants seul (référence)</c:v>
                </c:pt>
              </c:strCache>
            </c:strRef>
          </c:cat>
          <c:val>
            <c:numRef>
              <c:f>Sheet1!$B$2:$B$5</c:f>
              <c:numCache>
                <c:formatCode>General</c:formatCode>
                <c:ptCount val="4"/>
                <c:pt idx="0">
                  <c:v>0.871</c:v>
                </c:pt>
                <c:pt idx="1">
                  <c:v>0.873</c:v>
                </c:pt>
                <c:pt idx="2">
                  <c:v>0.874</c:v>
                </c:pt>
                <c:pt idx="3">
                  <c:v>0.867</c:v>
                </c:pt>
              </c:numCache>
            </c:numRef>
          </c:val>
        </c:ser>
        <c:dLbls>
          <c:numFmt formatCode="0.000" sourceLinked="0"/>
          <c:txPr>
            <a:bodyPr/>
            <a:lstStyle/>
            <a:p>
              <a:pPr>
                <a:defRPr sz="1300">
                  <a:solidFill>
                    <a:srgbClr val="1F2937"/>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C3C2B7"/>
            </a:solidFill>
          </a:ln>
        </c:spPr>
        <c:txPr>
          <a:bodyPr/>
          <a:lstStyle/>
          <a:p>
            <a:pPr>
              <a:defRPr sz="1300">
                <a:solidFill>
                  <a:srgbClr val="1F2937"/>
                </a:solidFill>
              </a:defRPr>
            </a:pPr>
          </a:p>
        </c:txPr>
        <c:crossAx val="-2113994440"/>
        <c:crosses val="autoZero"/>
        <c:auto val="1"/>
        <c:lblAlgn val="ctr"/>
        <c:lblOffset val="100"/>
        <c:noMultiLvlLbl val="0"/>
      </c:catAx>
      <c:valAx>
        <c:axId val="-2113994440"/>
        <c:scaling>
          <c:max val="1.0"/>
          <c:min val="0.0"/>
        </c:scaling>
        <c:delete/>
        <c:axPos val="b"/>
        <c:majorTickMark val="out"/>
        <c:minorTickMark val="none"/>
        <c:tickLblPos val="nextTo"/>
        <c:crossAx val="-2068027336"/>
        <c:crosses val="autoZero"/>
      </c:valAx>
    </c:plotArea>
    <c:dispBlanksAs val="gap"/>
  </c:chart>
  <c:txPr>
    <a:bodyPr/>
    <a:lstStyle/>
    <a:p>
      <a:pPr>
        <a:defRPr sz="1300">
          <a:solidFill>
            <a:srgbClr val="1F2937"/>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Imaginez que vous achetiez demain une voiture électrique. Première question : où vais-je la recharger ? Près de chez moi, et sur la route des vacances ? C'est la question que j'ai posée aux données : en France, qui reste à l'écart des bornes de recharge ? Je vais vous montrer ce que j'ai trouvé, avec une courte démonstration du tableau de bord, puis ce que je recommande.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 problématique est la suivante : dans le cadre de la transition énergétique, où se situent les déserts de recharge en France et les territoires sous-équipés en bornes de 150 kilowatts et plus, et quelle dynamique de déploiement permet d'orienter les futures installations ? Pour y répondre, je me suis fixé quatre objectifs : localiser les déserts de recharge ; mesurer l'accès à la recharge rapide ; suivre le rythme des installations ; et repérer, avec le machine learning, les communes à équiper en priorité.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répondre, j'ai croisé deux sources publiques : la liste nationale des bornes de recharge, et la population de chaque commune. Après nettoyage, il reste 166 430 points de recharge, à comparer aux 34 868 communes de métropole et des 5 départements d'outre-mer. J'ai fixé deux définitions avant de calculer quoi que ce soit. Un désert de recharge, c'est une commune sans aucune borne, dont la plus proche est à plus de 10 kilomètres. Un désert de recharge rapide, c'est une commune à plus de 30 kilomètres d'une borne de 150 kilowatts : c'est la recharge des longs trajets, environ 20 minutes pour faire le plein. Ce seuil de 30 kilomètres vient d'une règle européenne, qui impose une telle borne tous les 60 kilomètres sur les grands axes.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Premier constat, rassurant : la couverture est large. La moitié des Français vit à moins de 640 mètres à vol d'oiseau d'une borne publique. Seuls 0,9 % des habitants, environ 615 000 personnes, vivent dans un désert de recharge. Mais 0,9 %, c'est une moyenne. La vraie question est : qui sont ces 615 000 personnes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 c'est là que la moyenne trompe. Sur ces 615 000 personnes, près de trois sur quatre vivent outre-mer. À Mayotte, aucune borne n'est publiée : toute l'île, plus de 250 000 habitants, est un désert. En Guyane, près d'un habitant sur deux est concerné. En métropole, les déserts existent aussi, mais ce sont 636 petits villages, dont la moitié compte moins de 150 habitants, surtout dans la moitié nord : la Côte-d'Or, l'Orne, l'Aisne.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Même constat pour la recharge rapide, celle des longs trajets. Près d'une borne sur cinq atteint 150 kilowatts. En métropole, 99,9 % des habitants en ont une à moins de 30 kilomètres. Outre-mer, c'est l'inverse : aucune borne de ce type n'est publiée en Guadeloupe, en Martinique, en Guyane ni à Mayotte, et près des trois quarts des habitants en sont à plus de 30 kilomètres.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Démonstration, deux minutes environ. Basculer sur Power BI, page « Couverture et déserts ». Montrer la carte : les déserts de métropole sont de petits villages de la moitié nord. Dans le segment Région, cocher Normandie : le titre se met à jour tout seul ; décocher. Montrer le tableau : la Côte-d'Or compte 91 communes en désert. Page « Recharge 150 kW » : cocher Bourgogne-Franche-Comté, 27 % de bornes rapides, la région la mieux équipée ; décocher, puis montrer en bas du graphique Guadeloupe, Martinique et Guyane à 0 %. Page « Acteurs et dynamique » : la courbe de la recharge rapide qui monte depuis 2021. Revenir à la présentation.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Bonne nouvelle : ça bouge vite. Le nombre de bornes installées chaque année a doublé entre 2021 et 2025. Et la recharge rapide prend de plus en plus de place : en 2021, une borne installée sur onze était ultra-rapide ; en 2024, près d'une sur trois. Une précaution : ces chiffres ne portent que sur les bornes dont la date d'installation est connue, soit six sur dix.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ensuite utilisé le machine learning, un modèle de prédiction : à partir du profil d'une commune, peut-on deviner si elle a une borne ? Résultat très net : c'est le nombre d'habitants qui décide. Un village de 100 habitants a 3 % de chances d'être équipé, une ville de 5 000 habitants 91 %. Le modèle sert surtout à repérer les exceptions : 557 communes, 1,6 million d'habitants, qui devraient avoir une borne et n'en ont pas. Ce sont surtout des bourgs en périphérie des villes, comme Thorigny-sur-Marne, 10 000 habitants, sans borne, alors que la plus proche est à un peu plus d'un kilomètre.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Comment ai-je choisi ce modèle ? J'en ai entraîné trois pour deviner si une commune a une borne : la Logistic Regression, la plus simple, et deux modèles plus complexes, la Random Forest et XGBoost. Leurs scores sont quasi identiques : environ 87 % de comparaisons justes pour les trois. J'avais fixé une règle avant de voir les résultats : si l'écart est inférieur à un centième, je garde le plus simple. L'écart était de trois millièmes. La Logistic Regression est donc retenue : aussi fiable, plus lisible et plus rapide. Et le nombre d'habitants seul fait presque aussi bien.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là, trois priorités. Un : l'outre-mer, où l'écart est le plus grand ; Mayotte d'abord, puis la recharge rapide aux Antilles et en Guyane. Deux : les villages isolés de la moitié nord de la métropole, peu peuplés mais vraiment éloignés de toute borne. Trois : les bourgs périurbains sans borne, où la demande existe probablement déjà. Et une condition pour aller plus loin : publier des données d'usage, pour savoir où les bornes sont saturées.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mot sur les coulisses, car ces résultats ne sortent pas tels quels des données publiques. Au départ, 227 000 lignes, avec beaucoup de doublons et d'erreurs : j'ai supprimé 60 000 doublons et rattaché chaque borne à sa commune grâce à sa position. J'ai rangé les données dans une base de 6 tables reliées entre elles. Puis j'ai construit une API : c'est comme un guichet. Tout le monde peut consulter les données, mais seules les personnes munies d'une clé peuvent les modifier : consulter les chiffres, les communes, les stations ou les bornes est ouvert à tous ; ajouter, corriger ou supprimer une borne demande la clé, et chaque demande est vérifiée. Enfin, ces données alimentent le tableau de bord et le modèle de prédiction.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finir, l'honnêteté sur ce que les données permettent de dire. Ce qui est solide : la carte des déserts, le manque de recharge rapide outre-mer, et l'accélération du déploiement. Ce qui est à nuancer : je mesure les bornes, pas leur utilisation ; le fichier public est incomplet, avec 17 % de bornes de moins que le baromètre national ; et les distances sont mesurées à vol d'oiseau. En résumé : la France est bien équipée en moyenne, mais l'outre-mer, quelques villages isolés et des bourgs périurbains restent à l'écart. Merci de votre attention, je suis à votre disposition pour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22960" y="1554480"/>
            <a:ext cx="10515600" cy="457200"/>
          </a:xfrm>
          <a:prstGeom prst="rect">
            <a:avLst/>
          </a:prstGeom>
          <a:noFill/>
        </p:spPr>
        <p:txBody>
          <a:bodyPr wrap="square" lIns="0" rIns="0" tIns="0" bIns="0" anchor="t">
            <a:spAutoFit/>
          </a:bodyPr>
          <a:lstStyle/>
          <a:p>
            <a:pPr algn="l"/>
            <a:r>
              <a:rPr sz="1400" b="1" i="0">
                <a:solidFill>
                  <a:srgbClr val="CADCFC"/>
                </a:solidFill>
                <a:latin typeface="Calibri"/>
              </a:rPr>
              <a:t>PROJET DATA ANALYST · OCTOBRE 2026</a:t>
            </a:r>
          </a:p>
        </p:txBody>
      </p:sp>
      <p:sp>
        <p:nvSpPr>
          <p:cNvPr id="3" name="TextBox 2"/>
          <p:cNvSpPr txBox="1"/>
          <p:nvPr/>
        </p:nvSpPr>
        <p:spPr>
          <a:xfrm>
            <a:off x="822960" y="2103120"/>
            <a:ext cx="10515600" cy="1828800"/>
          </a:xfrm>
          <a:prstGeom prst="rect">
            <a:avLst/>
          </a:prstGeom>
          <a:noFill/>
        </p:spPr>
        <p:txBody>
          <a:bodyPr wrap="square" lIns="0" rIns="0" tIns="0" bIns="0" anchor="t">
            <a:spAutoFit/>
          </a:bodyPr>
          <a:lstStyle/>
          <a:p>
            <a:pPr algn="l"/>
            <a:r>
              <a:rPr sz="4800" b="1" i="0">
                <a:solidFill>
                  <a:srgbClr val="FFFFFF"/>
                </a:solidFill>
                <a:latin typeface="Cambria"/>
              </a:rPr>
              <a:t>Bornes de recharge : qui reste à l'écart ?</a:t>
            </a:r>
          </a:p>
        </p:txBody>
      </p:sp>
      <p:sp>
        <p:nvSpPr>
          <p:cNvPr id="4" name="TextBox 3"/>
          <p:cNvSpPr txBox="1"/>
          <p:nvPr/>
        </p:nvSpPr>
        <p:spPr>
          <a:xfrm>
            <a:off x="822960" y="3840480"/>
            <a:ext cx="9601200" cy="914400"/>
          </a:xfrm>
          <a:prstGeom prst="rect">
            <a:avLst/>
          </a:prstGeom>
          <a:noFill/>
        </p:spPr>
        <p:txBody>
          <a:bodyPr wrap="square" lIns="0" rIns="0" tIns="0" bIns="0" anchor="t">
            <a:spAutoFit/>
          </a:bodyPr>
          <a:lstStyle/>
          <a:p>
            <a:pPr algn="l"/>
            <a:r>
              <a:rPr sz="2000" b="0" i="0">
                <a:solidFill>
                  <a:srgbClr val="CADCFC"/>
                </a:solidFill>
                <a:latin typeface="Calibri"/>
              </a:rPr>
              <a:t>Déserts de recharge et recharge rapide en France, à partir des données ouvertes des bornes publiques</a:t>
            </a:r>
          </a:p>
        </p:txBody>
      </p:sp>
      <p:sp>
        <p:nvSpPr>
          <p:cNvPr id="5" name="TextBox 4"/>
          <p:cNvSpPr txBox="1"/>
          <p:nvPr/>
        </p:nvSpPr>
        <p:spPr>
          <a:xfrm>
            <a:off x="822960" y="5760720"/>
            <a:ext cx="7315200" cy="365760"/>
          </a:xfrm>
          <a:prstGeom prst="rect">
            <a:avLst/>
          </a:prstGeom>
          <a:noFill/>
        </p:spPr>
        <p:txBody>
          <a:bodyPr wrap="square" lIns="0" rIns="0" tIns="0" bIns="0" anchor="t">
            <a:spAutoFit/>
          </a:bodyPr>
          <a:lstStyle/>
          <a:p>
            <a:pPr algn="l"/>
            <a:r>
              <a:rPr sz="1600" b="1" i="0">
                <a:solidFill>
                  <a:srgbClr val="FFFFFF"/>
                </a:solidFill>
                <a:latin typeface="Calibri"/>
              </a:rPr>
              <a:t>Charmelle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4213D"/>
                </a:solidFill>
                <a:latin typeface="Cambria"/>
              </a:rPr>
              <a:t>La question de départ et quatre objectifs</a:t>
            </a:r>
          </a:p>
        </p:txBody>
      </p:sp>
      <p:sp>
        <p:nvSpPr>
          <p:cNvPr id="3" name="Source"/>
          <p:cNvSpPr txBox="1"/>
          <p:nvPr/>
        </p:nvSpPr>
        <p:spPr>
          <a:xfrm>
            <a:off x="548640" y="6400800"/>
            <a:ext cx="9601200" cy="274320"/>
          </a:xfrm>
          <a:prstGeom prst="rect">
            <a:avLst/>
          </a:prstGeom>
          <a:noFill/>
        </p:spPr>
        <p:txBody>
          <a:bodyPr wrap="square" lIns="0" rIns="0" tIns="0" bIns="0" anchor="t">
            <a:spAutoFit/>
          </a:bodyPr>
          <a:lstStyle/>
          <a:p>
            <a:pPr algn="l"/>
            <a:r>
              <a:rPr sz="1000" b="0" i="0">
                <a:solidFill>
                  <a:srgbClr val="5B6370"/>
                </a:solidFill>
                <a:latin typeface="Calibri"/>
              </a:rPr>
              <a:t>Sources : fichier consolidé IRVE (data.gouv.fr, 31/08/2026) ; population : Base Adresse Nationale</a:t>
            </a:r>
          </a:p>
        </p:txBody>
      </p:sp>
      <p:sp>
        <p:nvSpPr>
          <p:cNvPr id="4" name="Numéro"/>
          <p:cNvSpPr txBox="1"/>
          <p:nvPr/>
        </p:nvSpPr>
        <p:spPr>
          <a:xfrm>
            <a:off x="11155680" y="6400800"/>
            <a:ext cx="502920" cy="274320"/>
          </a:xfrm>
          <a:prstGeom prst="rect">
            <a:avLst/>
          </a:prstGeom>
          <a:noFill/>
        </p:spPr>
        <p:txBody>
          <a:bodyPr wrap="square" lIns="0" rIns="0" tIns="0" bIns="0" anchor="t">
            <a:spAutoFit/>
          </a:bodyPr>
          <a:lstStyle/>
          <a:p>
            <a:pPr algn="r"/>
            <a:r>
              <a:rPr sz="1000" b="0" i="0">
                <a:solidFill>
                  <a:srgbClr val="5B6370"/>
                </a:solidFill>
                <a:latin typeface="Calibri"/>
              </a:rPr>
              <a:t>2</a:t>
            </a:r>
          </a:p>
        </p:txBody>
      </p:sp>
      <p:sp>
        <p:nvSpPr>
          <p:cNvPr id="5" name="Rounded Rectangle 4"/>
          <p:cNvSpPr/>
          <p:nvPr/>
        </p:nvSpPr>
        <p:spPr>
          <a:xfrm>
            <a:off x="548640" y="1463040"/>
            <a:ext cx="11109960" cy="160020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63040"/>
            <a:ext cx="10515600" cy="1600200"/>
          </a:xfrm>
          <a:prstGeom prst="rect">
            <a:avLst/>
          </a:prstGeom>
          <a:noFill/>
        </p:spPr>
        <p:txBody>
          <a:bodyPr wrap="square" lIns="0" rIns="0" tIns="0" bIns="0" anchor="ctr">
            <a:spAutoFit/>
          </a:bodyPr>
          <a:lstStyle/>
          <a:p>
            <a:pPr algn="l">
              <a:spcAft>
                <a:spcPts val="800"/>
              </a:spcAft>
            </a:pPr>
            <a:r>
              <a:rPr sz="1300" b="1" i="0">
                <a:solidFill>
                  <a:srgbClr val="CADCFC"/>
                </a:solidFill>
                <a:latin typeface="Calibri"/>
              </a:rPr>
              <a:t>PROBLÉMATIQUE</a:t>
            </a:r>
          </a:p>
          <a:p>
            <a:pPr algn="l"/>
            <a:r>
              <a:rPr sz="1800" b="0" i="0">
                <a:solidFill>
                  <a:srgbClr val="FFFFFF"/>
                </a:solidFill>
                <a:latin typeface="Calibri"/>
              </a:rPr>
              <a:t>Dans le cadre de la transition énergétique, où se situent les déserts de recharge en France et les territoires sous-équipés en bornes de 150 kW et plus, et quelle dynamique de déploiement permet d'orienter les futures installations ?</a:t>
            </a:r>
          </a:p>
        </p:txBody>
      </p:sp>
      <p:sp>
        <p:nvSpPr>
          <p:cNvPr id="7" name="Rounded Rectangle 6"/>
          <p:cNvSpPr/>
          <p:nvPr/>
        </p:nvSpPr>
        <p:spPr>
          <a:xfrm>
            <a:off x="548640" y="3337560"/>
            <a:ext cx="2651760" cy="278892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59" y="3611880"/>
            <a:ext cx="566928" cy="566928"/>
          </a:xfrm>
          <a:prstGeom prst="ellipse">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9" name="TextBox 8"/>
          <p:cNvSpPr txBox="1"/>
          <p:nvPr/>
        </p:nvSpPr>
        <p:spPr>
          <a:xfrm>
            <a:off x="822959" y="4343400"/>
            <a:ext cx="2194560" cy="457200"/>
          </a:xfrm>
          <a:prstGeom prst="rect">
            <a:avLst/>
          </a:prstGeom>
          <a:noFill/>
        </p:spPr>
        <p:txBody>
          <a:bodyPr wrap="square" lIns="0" rIns="0" tIns="0" bIns="0" anchor="t">
            <a:spAutoFit/>
          </a:bodyPr>
          <a:lstStyle/>
          <a:p>
            <a:pPr algn="l"/>
            <a:r>
              <a:rPr sz="2100" b="1" i="0">
                <a:solidFill>
                  <a:srgbClr val="E34948"/>
                </a:solidFill>
                <a:latin typeface="Calibri"/>
              </a:rPr>
              <a:t>Localiser</a:t>
            </a:r>
          </a:p>
        </p:txBody>
      </p:sp>
      <p:sp>
        <p:nvSpPr>
          <p:cNvPr id="10" name="TextBox 9"/>
          <p:cNvSpPr txBox="1"/>
          <p:nvPr/>
        </p:nvSpPr>
        <p:spPr>
          <a:xfrm>
            <a:off x="822959" y="4846320"/>
            <a:ext cx="2194560" cy="1188720"/>
          </a:xfrm>
          <a:prstGeom prst="rect">
            <a:avLst/>
          </a:prstGeom>
          <a:noFill/>
        </p:spPr>
        <p:txBody>
          <a:bodyPr wrap="square" lIns="0" rIns="0" tIns="0" bIns="0" anchor="t">
            <a:spAutoFit/>
          </a:bodyPr>
          <a:lstStyle/>
          <a:p>
            <a:pPr algn="l"/>
            <a:r>
              <a:rPr sz="1500" b="0" i="0">
                <a:solidFill>
                  <a:srgbClr val="1F2937"/>
                </a:solidFill>
                <a:latin typeface="Calibri"/>
              </a:rPr>
              <a:t>les déserts de recharge, commune par commune</a:t>
            </a:r>
          </a:p>
        </p:txBody>
      </p:sp>
      <p:sp>
        <p:nvSpPr>
          <p:cNvPr id="11" name="Rounded Rectangle 10"/>
          <p:cNvSpPr/>
          <p:nvPr/>
        </p:nvSpPr>
        <p:spPr>
          <a:xfrm>
            <a:off x="3383280" y="3337560"/>
            <a:ext cx="2651760" cy="278892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657600" y="3611880"/>
            <a:ext cx="566928" cy="56692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3" name="TextBox 12"/>
          <p:cNvSpPr txBox="1"/>
          <p:nvPr/>
        </p:nvSpPr>
        <p:spPr>
          <a:xfrm>
            <a:off x="3657600" y="4343400"/>
            <a:ext cx="2194560" cy="457200"/>
          </a:xfrm>
          <a:prstGeom prst="rect">
            <a:avLst/>
          </a:prstGeom>
          <a:noFill/>
        </p:spPr>
        <p:txBody>
          <a:bodyPr wrap="square" lIns="0" rIns="0" tIns="0" bIns="0" anchor="t">
            <a:spAutoFit/>
          </a:bodyPr>
          <a:lstStyle/>
          <a:p>
            <a:pPr algn="l"/>
            <a:r>
              <a:rPr sz="2100" b="1" i="0">
                <a:solidFill>
                  <a:srgbClr val="EB6834"/>
                </a:solidFill>
                <a:latin typeface="Calibri"/>
              </a:rPr>
              <a:t>Mesurer</a:t>
            </a:r>
          </a:p>
        </p:txBody>
      </p:sp>
      <p:sp>
        <p:nvSpPr>
          <p:cNvPr id="14" name="TextBox 13"/>
          <p:cNvSpPr txBox="1"/>
          <p:nvPr/>
        </p:nvSpPr>
        <p:spPr>
          <a:xfrm>
            <a:off x="3657600" y="4846320"/>
            <a:ext cx="2194560" cy="1188720"/>
          </a:xfrm>
          <a:prstGeom prst="rect">
            <a:avLst/>
          </a:prstGeom>
          <a:noFill/>
        </p:spPr>
        <p:txBody>
          <a:bodyPr wrap="square" lIns="0" rIns="0" tIns="0" bIns="0" anchor="t">
            <a:spAutoFit/>
          </a:bodyPr>
          <a:lstStyle/>
          <a:p>
            <a:pPr algn="l"/>
            <a:r>
              <a:rPr sz="1500" b="0" i="0">
                <a:solidFill>
                  <a:srgbClr val="1F2937"/>
                </a:solidFill>
                <a:latin typeface="Calibri"/>
              </a:rPr>
              <a:t>l'accès à la recharge rapide (150 kW et plus)</a:t>
            </a:r>
          </a:p>
        </p:txBody>
      </p:sp>
      <p:sp>
        <p:nvSpPr>
          <p:cNvPr id="15" name="Rounded Rectangle 14"/>
          <p:cNvSpPr/>
          <p:nvPr/>
        </p:nvSpPr>
        <p:spPr>
          <a:xfrm>
            <a:off x="6217920" y="3337560"/>
            <a:ext cx="2651760" cy="278892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92240" y="3611880"/>
            <a:ext cx="566928" cy="56692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7" name="TextBox 16"/>
          <p:cNvSpPr txBox="1"/>
          <p:nvPr/>
        </p:nvSpPr>
        <p:spPr>
          <a:xfrm>
            <a:off x="6492240" y="4343400"/>
            <a:ext cx="2194560" cy="457200"/>
          </a:xfrm>
          <a:prstGeom prst="rect">
            <a:avLst/>
          </a:prstGeom>
          <a:noFill/>
        </p:spPr>
        <p:txBody>
          <a:bodyPr wrap="square" lIns="0" rIns="0" tIns="0" bIns="0" anchor="t">
            <a:spAutoFit/>
          </a:bodyPr>
          <a:lstStyle/>
          <a:p>
            <a:pPr algn="l"/>
            <a:r>
              <a:rPr sz="2100" b="1" i="0">
                <a:solidFill>
                  <a:srgbClr val="2A78D6"/>
                </a:solidFill>
                <a:latin typeface="Calibri"/>
              </a:rPr>
              <a:t>Suivre</a:t>
            </a:r>
          </a:p>
        </p:txBody>
      </p:sp>
      <p:sp>
        <p:nvSpPr>
          <p:cNvPr id="18" name="TextBox 17"/>
          <p:cNvSpPr txBox="1"/>
          <p:nvPr/>
        </p:nvSpPr>
        <p:spPr>
          <a:xfrm>
            <a:off x="6492240" y="4846320"/>
            <a:ext cx="2194560" cy="1188720"/>
          </a:xfrm>
          <a:prstGeom prst="rect">
            <a:avLst/>
          </a:prstGeom>
          <a:noFill/>
        </p:spPr>
        <p:txBody>
          <a:bodyPr wrap="square" lIns="0" rIns="0" tIns="0" bIns="0" anchor="t">
            <a:spAutoFit/>
          </a:bodyPr>
          <a:lstStyle/>
          <a:p>
            <a:pPr algn="l"/>
            <a:r>
              <a:rPr sz="1500" b="0" i="0">
                <a:solidFill>
                  <a:srgbClr val="1F2937"/>
                </a:solidFill>
                <a:latin typeface="Calibri"/>
              </a:rPr>
              <a:t>le rythme des installations depuis 2018</a:t>
            </a:r>
          </a:p>
        </p:txBody>
      </p:sp>
      <p:sp>
        <p:nvSpPr>
          <p:cNvPr id="19" name="Rounded Rectangle 18"/>
          <p:cNvSpPr/>
          <p:nvPr/>
        </p:nvSpPr>
        <p:spPr>
          <a:xfrm>
            <a:off x="9052560" y="3337560"/>
            <a:ext cx="2651760" cy="278892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326880" y="3611880"/>
            <a:ext cx="566928" cy="566928"/>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21" name="TextBox 20"/>
          <p:cNvSpPr txBox="1"/>
          <p:nvPr/>
        </p:nvSpPr>
        <p:spPr>
          <a:xfrm>
            <a:off x="9326880" y="4343400"/>
            <a:ext cx="2194560" cy="457200"/>
          </a:xfrm>
          <a:prstGeom prst="rect">
            <a:avLst/>
          </a:prstGeom>
          <a:noFill/>
        </p:spPr>
        <p:txBody>
          <a:bodyPr wrap="square" lIns="0" rIns="0" tIns="0" bIns="0" anchor="t">
            <a:spAutoFit/>
          </a:bodyPr>
          <a:lstStyle/>
          <a:p>
            <a:pPr algn="l"/>
            <a:r>
              <a:rPr sz="2100" b="1" i="0">
                <a:solidFill>
                  <a:srgbClr val="14213D"/>
                </a:solidFill>
                <a:latin typeface="Calibri"/>
              </a:rPr>
              <a:t>Repérer</a:t>
            </a:r>
          </a:p>
        </p:txBody>
      </p:sp>
      <p:sp>
        <p:nvSpPr>
          <p:cNvPr id="22" name="TextBox 21"/>
          <p:cNvSpPr txBox="1"/>
          <p:nvPr/>
        </p:nvSpPr>
        <p:spPr>
          <a:xfrm>
            <a:off x="9326880" y="4846320"/>
            <a:ext cx="2194560" cy="1188720"/>
          </a:xfrm>
          <a:prstGeom prst="rect">
            <a:avLst/>
          </a:prstGeom>
          <a:noFill/>
        </p:spPr>
        <p:txBody>
          <a:bodyPr wrap="square" lIns="0" rIns="0" tIns="0" bIns="0" anchor="t">
            <a:spAutoFit/>
          </a:bodyPr>
          <a:lstStyle/>
          <a:p>
            <a:pPr algn="l"/>
            <a:r>
              <a:rPr sz="1500" b="0" i="0">
                <a:solidFill>
                  <a:srgbClr val="1F2937"/>
                </a:solidFill>
                <a:latin typeface="Calibri"/>
              </a:rPr>
              <a:t>les communes à équiper en priorité, avec le machine learning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4213D"/>
                </a:solidFill>
                <a:latin typeface="Cambria"/>
              </a:rPr>
              <a:t>166 430 bornes publiques : là où vivent les Français ?</a:t>
            </a:r>
          </a:p>
        </p:txBody>
      </p:sp>
      <p:sp>
        <p:nvSpPr>
          <p:cNvPr id="3" name="Source"/>
          <p:cNvSpPr txBox="1"/>
          <p:nvPr/>
        </p:nvSpPr>
        <p:spPr>
          <a:xfrm>
            <a:off x="548640" y="6400800"/>
            <a:ext cx="9601200" cy="274320"/>
          </a:xfrm>
          <a:prstGeom prst="rect">
            <a:avLst/>
          </a:prstGeom>
          <a:noFill/>
        </p:spPr>
        <p:txBody>
          <a:bodyPr wrap="square" lIns="0" rIns="0" tIns="0" bIns="0" anchor="t">
            <a:spAutoFit/>
          </a:bodyPr>
          <a:lstStyle/>
          <a:p>
            <a:pPr algn="l"/>
            <a:r>
              <a:rPr sz="1000" b="0" i="0">
                <a:solidFill>
                  <a:srgbClr val="5B6370"/>
                </a:solidFill>
                <a:latin typeface="Calibri"/>
              </a:rPr>
              <a:t>Sources : fichier consolidé IRVE (data.gouv.fr, 31/08/2026) ; population : Base Adresse Nationale</a:t>
            </a:r>
          </a:p>
        </p:txBody>
      </p:sp>
      <p:sp>
        <p:nvSpPr>
          <p:cNvPr id="4" name="Numéro"/>
          <p:cNvSpPr txBox="1"/>
          <p:nvPr/>
        </p:nvSpPr>
        <p:spPr>
          <a:xfrm>
            <a:off x="11155680" y="6400800"/>
            <a:ext cx="502920" cy="274320"/>
          </a:xfrm>
          <a:prstGeom prst="rect">
            <a:avLst/>
          </a:prstGeom>
          <a:noFill/>
        </p:spPr>
        <p:txBody>
          <a:bodyPr wrap="square" lIns="0" rIns="0" tIns="0" bIns="0" anchor="t">
            <a:spAutoFit/>
          </a:bodyPr>
          <a:lstStyle/>
          <a:p>
            <a:pPr algn="r"/>
            <a:r>
              <a:rPr sz="1000" b="0" i="0">
                <a:solidFill>
                  <a:srgbClr val="5B6370"/>
                </a:solidFill>
                <a:latin typeface="Calibri"/>
              </a:rPr>
              <a:t>3</a:t>
            </a:r>
          </a:p>
        </p:txBody>
      </p:sp>
      <p:sp>
        <p:nvSpPr>
          <p:cNvPr id="5" name="Rounded Rectangle 4"/>
          <p:cNvSpPr/>
          <p:nvPr/>
        </p:nvSpPr>
        <p:spPr>
          <a:xfrm>
            <a:off x="548640" y="1508760"/>
            <a:ext cx="3520440" cy="18288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737360"/>
            <a:ext cx="2971800" cy="914400"/>
          </a:xfrm>
          <a:prstGeom prst="rect">
            <a:avLst/>
          </a:prstGeom>
          <a:noFill/>
        </p:spPr>
        <p:txBody>
          <a:bodyPr wrap="square" lIns="0" rIns="0" tIns="0" bIns="0" anchor="b">
            <a:spAutoFit/>
          </a:bodyPr>
          <a:lstStyle/>
          <a:p>
            <a:pPr algn="l"/>
            <a:r>
              <a:rPr sz="4000" b="1" i="0">
                <a:solidFill>
                  <a:srgbClr val="2A78D6"/>
                </a:solidFill>
                <a:latin typeface="Calibri"/>
              </a:rPr>
              <a:t>166 430</a:t>
            </a:r>
          </a:p>
        </p:txBody>
      </p:sp>
      <p:sp>
        <p:nvSpPr>
          <p:cNvPr id="7" name="TextBox 6"/>
          <p:cNvSpPr txBox="1"/>
          <p:nvPr/>
        </p:nvSpPr>
        <p:spPr>
          <a:xfrm>
            <a:off x="822959" y="2697480"/>
            <a:ext cx="2971800" cy="457200"/>
          </a:xfrm>
          <a:prstGeom prst="rect">
            <a:avLst/>
          </a:prstGeom>
          <a:noFill/>
        </p:spPr>
        <p:txBody>
          <a:bodyPr wrap="square" lIns="0" rIns="0" tIns="0" bIns="0" anchor="t">
            <a:spAutoFit/>
          </a:bodyPr>
          <a:lstStyle/>
          <a:p>
            <a:pPr algn="l"/>
            <a:r>
              <a:rPr sz="1500" b="0" i="0">
                <a:solidFill>
                  <a:srgbClr val="1F2937"/>
                </a:solidFill>
                <a:latin typeface="Calibri"/>
              </a:rPr>
              <a:t>points de recharge ouverts au public</a:t>
            </a:r>
          </a:p>
        </p:txBody>
      </p:sp>
      <p:sp>
        <p:nvSpPr>
          <p:cNvPr id="8" name="Rounded Rectangle 7"/>
          <p:cNvSpPr/>
          <p:nvPr/>
        </p:nvSpPr>
        <p:spPr>
          <a:xfrm>
            <a:off x="4297679" y="1508760"/>
            <a:ext cx="3520440" cy="18288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1999" y="1737360"/>
            <a:ext cx="2971800" cy="914400"/>
          </a:xfrm>
          <a:prstGeom prst="rect">
            <a:avLst/>
          </a:prstGeom>
          <a:noFill/>
        </p:spPr>
        <p:txBody>
          <a:bodyPr wrap="square" lIns="0" rIns="0" tIns="0" bIns="0" anchor="b">
            <a:spAutoFit/>
          </a:bodyPr>
          <a:lstStyle/>
          <a:p>
            <a:pPr algn="l"/>
            <a:r>
              <a:rPr sz="4000" b="1" i="0">
                <a:solidFill>
                  <a:srgbClr val="14213D"/>
                </a:solidFill>
                <a:latin typeface="Calibri"/>
              </a:rPr>
              <a:t>34 868</a:t>
            </a:r>
          </a:p>
        </p:txBody>
      </p:sp>
      <p:sp>
        <p:nvSpPr>
          <p:cNvPr id="10" name="TextBox 9"/>
          <p:cNvSpPr txBox="1"/>
          <p:nvPr/>
        </p:nvSpPr>
        <p:spPr>
          <a:xfrm>
            <a:off x="4571999" y="2697480"/>
            <a:ext cx="2971800" cy="457200"/>
          </a:xfrm>
          <a:prstGeom prst="rect">
            <a:avLst/>
          </a:prstGeom>
          <a:noFill/>
        </p:spPr>
        <p:txBody>
          <a:bodyPr wrap="square" lIns="0" rIns="0" tIns="0" bIns="0" anchor="t">
            <a:spAutoFit/>
          </a:bodyPr>
          <a:lstStyle/>
          <a:p>
            <a:pPr algn="l"/>
            <a:r>
              <a:rPr sz="1500" b="0" i="0">
                <a:solidFill>
                  <a:srgbClr val="1F2937"/>
                </a:solidFill>
                <a:latin typeface="Calibri"/>
              </a:rPr>
              <a:t>communes analysées, avec ou sans borne</a:t>
            </a:r>
          </a:p>
        </p:txBody>
      </p:sp>
      <p:sp>
        <p:nvSpPr>
          <p:cNvPr id="11" name="Rounded Rectangle 10"/>
          <p:cNvSpPr/>
          <p:nvPr/>
        </p:nvSpPr>
        <p:spPr>
          <a:xfrm>
            <a:off x="8046719" y="1508760"/>
            <a:ext cx="3520440" cy="18288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737360"/>
            <a:ext cx="2971800" cy="914400"/>
          </a:xfrm>
          <a:prstGeom prst="rect">
            <a:avLst/>
          </a:prstGeom>
          <a:noFill/>
        </p:spPr>
        <p:txBody>
          <a:bodyPr wrap="square" lIns="0" rIns="0" tIns="0" bIns="0" anchor="b">
            <a:spAutoFit/>
          </a:bodyPr>
          <a:lstStyle/>
          <a:p>
            <a:pPr algn="l"/>
            <a:r>
              <a:rPr sz="4000" b="1" i="0">
                <a:solidFill>
                  <a:srgbClr val="14213D"/>
                </a:solidFill>
                <a:latin typeface="Calibri"/>
              </a:rPr>
              <a:t>68,3 M</a:t>
            </a:r>
          </a:p>
        </p:txBody>
      </p:sp>
      <p:sp>
        <p:nvSpPr>
          <p:cNvPr id="13" name="TextBox 12"/>
          <p:cNvSpPr txBox="1"/>
          <p:nvPr/>
        </p:nvSpPr>
        <p:spPr>
          <a:xfrm>
            <a:off x="8321040" y="2697480"/>
            <a:ext cx="2971800" cy="457200"/>
          </a:xfrm>
          <a:prstGeom prst="rect">
            <a:avLst/>
          </a:prstGeom>
          <a:noFill/>
        </p:spPr>
        <p:txBody>
          <a:bodyPr wrap="square" lIns="0" rIns="0" tIns="0" bIns="0" anchor="t">
            <a:spAutoFit/>
          </a:bodyPr>
          <a:lstStyle/>
          <a:p>
            <a:pPr algn="l"/>
            <a:r>
              <a:rPr sz="1500" b="0" i="0">
                <a:solidFill>
                  <a:srgbClr val="1F2937"/>
                </a:solidFill>
                <a:latin typeface="Calibri"/>
              </a:rPr>
              <a:t>habitants (métropole et 5 départements d'outre-mer)</a:t>
            </a:r>
          </a:p>
        </p:txBody>
      </p:sp>
      <p:sp>
        <p:nvSpPr>
          <p:cNvPr id="14" name="Rounded Rectangle 13"/>
          <p:cNvSpPr/>
          <p:nvPr/>
        </p:nvSpPr>
        <p:spPr>
          <a:xfrm>
            <a:off x="548640" y="3703320"/>
            <a:ext cx="5440680" cy="233172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68680" y="4023360"/>
            <a:ext cx="566928" cy="566928"/>
          </a:xfrm>
          <a:prstGeom prst="ellipse">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16" name="TextBox 15"/>
          <p:cNvSpPr txBox="1"/>
          <p:nvPr/>
        </p:nvSpPr>
        <p:spPr>
          <a:xfrm>
            <a:off x="1645919" y="4023360"/>
            <a:ext cx="4114800" cy="566928"/>
          </a:xfrm>
          <a:prstGeom prst="rect">
            <a:avLst/>
          </a:prstGeom>
          <a:noFill/>
        </p:spPr>
        <p:txBody>
          <a:bodyPr wrap="square" lIns="0" rIns="0" tIns="0" bIns="0" anchor="ctr">
            <a:spAutoFit/>
          </a:bodyPr>
          <a:lstStyle/>
          <a:p>
            <a:pPr algn="l"/>
            <a:r>
              <a:rPr sz="2200" b="1" i="0">
                <a:solidFill>
                  <a:srgbClr val="E34948"/>
                </a:solidFill>
                <a:latin typeface="Calibri"/>
              </a:rPr>
              <a:t>Désert de recharge</a:t>
            </a:r>
          </a:p>
        </p:txBody>
      </p:sp>
      <p:sp>
        <p:nvSpPr>
          <p:cNvPr id="17" name="TextBox 16"/>
          <p:cNvSpPr txBox="1"/>
          <p:nvPr/>
        </p:nvSpPr>
        <p:spPr>
          <a:xfrm>
            <a:off x="1645919" y="4709160"/>
            <a:ext cx="4069080" cy="1188720"/>
          </a:xfrm>
          <a:prstGeom prst="rect">
            <a:avLst/>
          </a:prstGeom>
          <a:noFill/>
        </p:spPr>
        <p:txBody>
          <a:bodyPr wrap="square" lIns="0" rIns="0" tIns="0" bIns="0" anchor="t">
            <a:spAutoFit/>
          </a:bodyPr>
          <a:lstStyle/>
          <a:p>
            <a:pPr algn="l"/>
            <a:r>
              <a:rPr sz="1600" b="0" i="0">
                <a:solidFill>
                  <a:srgbClr val="1F2937"/>
                </a:solidFill>
                <a:latin typeface="Calibri"/>
              </a:rPr>
              <a:t>Aucune borne dans la commune, et la plus proche à plus de 10 km</a:t>
            </a:r>
          </a:p>
        </p:txBody>
      </p:sp>
      <p:sp>
        <p:nvSpPr>
          <p:cNvPr id="18" name="Rounded Rectangle 17"/>
          <p:cNvSpPr/>
          <p:nvPr/>
        </p:nvSpPr>
        <p:spPr>
          <a:xfrm>
            <a:off x="6172200" y="3703320"/>
            <a:ext cx="5440680" cy="233172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92240" y="4023360"/>
            <a:ext cx="566928" cy="56692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20" name="TextBox 19"/>
          <p:cNvSpPr txBox="1"/>
          <p:nvPr/>
        </p:nvSpPr>
        <p:spPr>
          <a:xfrm>
            <a:off x="7269480" y="4023360"/>
            <a:ext cx="4114800" cy="566928"/>
          </a:xfrm>
          <a:prstGeom prst="rect">
            <a:avLst/>
          </a:prstGeom>
          <a:noFill/>
        </p:spPr>
        <p:txBody>
          <a:bodyPr wrap="square" lIns="0" rIns="0" tIns="0" bIns="0" anchor="ctr">
            <a:spAutoFit/>
          </a:bodyPr>
          <a:lstStyle/>
          <a:p>
            <a:pPr algn="l"/>
            <a:r>
              <a:rPr sz="2200" b="1" i="0">
                <a:solidFill>
                  <a:srgbClr val="EB6834"/>
                </a:solidFill>
                <a:latin typeface="Calibri"/>
              </a:rPr>
              <a:t>Désert de recharge rapide</a:t>
            </a:r>
          </a:p>
        </p:txBody>
      </p:sp>
      <p:sp>
        <p:nvSpPr>
          <p:cNvPr id="21" name="TextBox 20"/>
          <p:cNvSpPr txBox="1"/>
          <p:nvPr/>
        </p:nvSpPr>
        <p:spPr>
          <a:xfrm>
            <a:off x="7269480" y="4709160"/>
            <a:ext cx="4069080" cy="1188720"/>
          </a:xfrm>
          <a:prstGeom prst="rect">
            <a:avLst/>
          </a:prstGeom>
          <a:noFill/>
        </p:spPr>
        <p:txBody>
          <a:bodyPr wrap="square" lIns="0" rIns="0" tIns="0" bIns="0" anchor="t">
            <a:spAutoFit/>
          </a:bodyPr>
          <a:lstStyle/>
          <a:p>
            <a:pPr algn="l"/>
            <a:r>
              <a:rPr sz="1600" b="0" i="0">
                <a:solidFill>
                  <a:srgbClr val="1F2937"/>
                </a:solidFill>
                <a:latin typeface="Calibri"/>
              </a:rPr>
              <a:t>Aucune borne de 150 kW à moins de 30 km : la recharge des longs trajets (environ 20 minutes)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4213D"/>
                </a:solidFill>
                <a:latin typeface="Cambria"/>
              </a:rPr>
              <a:t>Presque tout le monde a une borne à portée</a:t>
            </a:r>
          </a:p>
        </p:txBody>
      </p:sp>
      <p:sp>
        <p:nvSpPr>
          <p:cNvPr id="3" name="Source"/>
          <p:cNvSpPr txBox="1"/>
          <p:nvPr/>
        </p:nvSpPr>
        <p:spPr>
          <a:xfrm>
            <a:off x="548640" y="6400800"/>
            <a:ext cx="9601200" cy="274320"/>
          </a:xfrm>
          <a:prstGeom prst="rect">
            <a:avLst/>
          </a:prstGeom>
          <a:noFill/>
        </p:spPr>
        <p:txBody>
          <a:bodyPr wrap="square" lIns="0" rIns="0" tIns="0" bIns="0" anchor="t">
            <a:spAutoFit/>
          </a:bodyPr>
          <a:lstStyle/>
          <a:p>
            <a:pPr algn="l"/>
            <a:r>
              <a:rPr sz="1000" b="0" i="0">
                <a:solidFill>
                  <a:srgbClr val="5B6370"/>
                </a:solidFill>
                <a:latin typeface="Calibri"/>
              </a:rPr>
              <a:t>Sources : fichier consolidé IRVE (data.gouv.fr, 31/08/2026) ; population : Base Adresse Nationale</a:t>
            </a:r>
          </a:p>
        </p:txBody>
      </p:sp>
      <p:sp>
        <p:nvSpPr>
          <p:cNvPr id="4" name="Numéro"/>
          <p:cNvSpPr txBox="1"/>
          <p:nvPr/>
        </p:nvSpPr>
        <p:spPr>
          <a:xfrm>
            <a:off x="11155680" y="6400800"/>
            <a:ext cx="502920" cy="274320"/>
          </a:xfrm>
          <a:prstGeom prst="rect">
            <a:avLst/>
          </a:prstGeom>
          <a:noFill/>
        </p:spPr>
        <p:txBody>
          <a:bodyPr wrap="square" lIns="0" rIns="0" tIns="0" bIns="0" anchor="t">
            <a:spAutoFit/>
          </a:bodyPr>
          <a:lstStyle/>
          <a:p>
            <a:pPr algn="r"/>
            <a:r>
              <a:rPr sz="1000" b="0" i="0">
                <a:solidFill>
                  <a:srgbClr val="5B6370"/>
                </a:solidFill>
                <a:latin typeface="Calibri"/>
              </a:rPr>
              <a:t>4</a:t>
            </a:r>
          </a:p>
        </p:txBody>
      </p:sp>
      <p:sp>
        <p:nvSpPr>
          <p:cNvPr id="5" name="Rounded Rectangle 4"/>
          <p:cNvSpPr/>
          <p:nvPr/>
        </p:nvSpPr>
        <p:spPr>
          <a:xfrm>
            <a:off x="548640" y="2011680"/>
            <a:ext cx="3520440" cy="310896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240280"/>
            <a:ext cx="2971800" cy="1554480"/>
          </a:xfrm>
          <a:prstGeom prst="rect">
            <a:avLst/>
          </a:prstGeom>
          <a:noFill/>
        </p:spPr>
        <p:txBody>
          <a:bodyPr wrap="square" lIns="0" rIns="0" tIns="0" bIns="0" anchor="b">
            <a:spAutoFit/>
          </a:bodyPr>
          <a:lstStyle/>
          <a:p>
            <a:pPr algn="l"/>
            <a:r>
              <a:rPr sz="6000" b="1" i="0">
                <a:solidFill>
                  <a:srgbClr val="2A78D6"/>
                </a:solidFill>
                <a:latin typeface="Calibri"/>
              </a:rPr>
              <a:t>640 m</a:t>
            </a:r>
          </a:p>
        </p:txBody>
      </p:sp>
      <p:sp>
        <p:nvSpPr>
          <p:cNvPr id="7" name="TextBox 6"/>
          <p:cNvSpPr txBox="1"/>
          <p:nvPr/>
        </p:nvSpPr>
        <p:spPr>
          <a:xfrm>
            <a:off x="822959" y="3840480"/>
            <a:ext cx="2971800" cy="1033271"/>
          </a:xfrm>
          <a:prstGeom prst="rect">
            <a:avLst/>
          </a:prstGeom>
          <a:noFill/>
        </p:spPr>
        <p:txBody>
          <a:bodyPr wrap="square" lIns="0" rIns="0" tIns="0" bIns="0" anchor="t">
            <a:spAutoFit/>
          </a:bodyPr>
          <a:lstStyle/>
          <a:p>
            <a:pPr algn="l"/>
            <a:r>
              <a:rPr sz="1500" b="0" i="0">
                <a:solidFill>
                  <a:srgbClr val="1F2937"/>
                </a:solidFill>
                <a:latin typeface="Calibri"/>
              </a:rPr>
              <a:t>La moitié des habitants vit à moins de 640 m d'une borne (à vol d'oiseau)</a:t>
            </a:r>
          </a:p>
        </p:txBody>
      </p:sp>
      <p:sp>
        <p:nvSpPr>
          <p:cNvPr id="8" name="Rounded Rectangle 7"/>
          <p:cNvSpPr/>
          <p:nvPr/>
        </p:nvSpPr>
        <p:spPr>
          <a:xfrm>
            <a:off x="4297680" y="2011680"/>
            <a:ext cx="3520440" cy="310896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240280"/>
            <a:ext cx="2971800" cy="1554480"/>
          </a:xfrm>
          <a:prstGeom prst="rect">
            <a:avLst/>
          </a:prstGeom>
          <a:noFill/>
        </p:spPr>
        <p:txBody>
          <a:bodyPr wrap="square" lIns="0" rIns="0" tIns="0" bIns="0" anchor="b">
            <a:spAutoFit/>
          </a:bodyPr>
          <a:lstStyle/>
          <a:p>
            <a:pPr algn="l"/>
            <a:r>
              <a:rPr sz="6000" b="1" i="0">
                <a:solidFill>
                  <a:srgbClr val="2A78D6"/>
                </a:solidFill>
                <a:latin typeface="Calibri"/>
              </a:rPr>
              <a:t>24</a:t>
            </a:r>
          </a:p>
        </p:txBody>
      </p:sp>
      <p:sp>
        <p:nvSpPr>
          <p:cNvPr id="10" name="TextBox 9"/>
          <p:cNvSpPr txBox="1"/>
          <p:nvPr/>
        </p:nvSpPr>
        <p:spPr>
          <a:xfrm>
            <a:off x="4572000" y="3840480"/>
            <a:ext cx="2971800" cy="1033271"/>
          </a:xfrm>
          <a:prstGeom prst="rect">
            <a:avLst/>
          </a:prstGeom>
          <a:noFill/>
        </p:spPr>
        <p:txBody>
          <a:bodyPr wrap="square" lIns="0" rIns="0" tIns="0" bIns="0" anchor="t">
            <a:spAutoFit/>
          </a:bodyPr>
          <a:lstStyle/>
          <a:p>
            <a:pPr algn="l"/>
            <a:r>
              <a:rPr sz="1500" b="0" i="0">
                <a:solidFill>
                  <a:srgbClr val="1F2937"/>
                </a:solidFill>
                <a:latin typeface="Calibri"/>
              </a:rPr>
              <a:t>bornes pour 10 000 habitants en moyenne</a:t>
            </a:r>
          </a:p>
        </p:txBody>
      </p:sp>
      <p:sp>
        <p:nvSpPr>
          <p:cNvPr id="11" name="Rounded Rectangle 10"/>
          <p:cNvSpPr/>
          <p:nvPr/>
        </p:nvSpPr>
        <p:spPr>
          <a:xfrm>
            <a:off x="8046720" y="2011680"/>
            <a:ext cx="3611880" cy="310896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2240280"/>
            <a:ext cx="3063240" cy="1554480"/>
          </a:xfrm>
          <a:prstGeom prst="rect">
            <a:avLst/>
          </a:prstGeom>
          <a:noFill/>
        </p:spPr>
        <p:txBody>
          <a:bodyPr wrap="square" lIns="0" rIns="0" tIns="0" bIns="0" anchor="b">
            <a:spAutoFit/>
          </a:bodyPr>
          <a:lstStyle/>
          <a:p>
            <a:pPr algn="l"/>
            <a:r>
              <a:rPr sz="6000" b="1" i="0">
                <a:solidFill>
                  <a:srgbClr val="E34948"/>
                </a:solidFill>
                <a:latin typeface="Calibri"/>
              </a:rPr>
              <a:t>0,9 %</a:t>
            </a:r>
          </a:p>
        </p:txBody>
      </p:sp>
      <p:sp>
        <p:nvSpPr>
          <p:cNvPr id="13" name="TextBox 12"/>
          <p:cNvSpPr txBox="1"/>
          <p:nvPr/>
        </p:nvSpPr>
        <p:spPr>
          <a:xfrm>
            <a:off x="8321040" y="3840480"/>
            <a:ext cx="3063240" cy="1033271"/>
          </a:xfrm>
          <a:prstGeom prst="rect">
            <a:avLst/>
          </a:prstGeom>
          <a:noFill/>
        </p:spPr>
        <p:txBody>
          <a:bodyPr wrap="square" lIns="0" rIns="0" tIns="0" bIns="0" anchor="t">
            <a:spAutoFit/>
          </a:bodyPr>
          <a:lstStyle/>
          <a:p>
            <a:pPr algn="l"/>
            <a:r>
              <a:rPr sz="1500" b="0" i="0">
                <a:solidFill>
                  <a:srgbClr val="1F2937"/>
                </a:solidFill>
                <a:latin typeface="Calibri"/>
              </a:rPr>
              <a:t>des habitants vivent dans un désert de recharge, soit 614 653 personnes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4213D"/>
                </a:solidFill>
                <a:latin typeface="Cambria"/>
              </a:rPr>
              <a:t>Les déserts de recharge sont d'abord ultramarins</a:t>
            </a:r>
          </a:p>
        </p:txBody>
      </p:sp>
      <p:sp>
        <p:nvSpPr>
          <p:cNvPr id="3" name="Source"/>
          <p:cNvSpPr txBox="1"/>
          <p:nvPr/>
        </p:nvSpPr>
        <p:spPr>
          <a:xfrm>
            <a:off x="548640" y="6400800"/>
            <a:ext cx="9601200" cy="274320"/>
          </a:xfrm>
          <a:prstGeom prst="rect">
            <a:avLst/>
          </a:prstGeom>
          <a:noFill/>
        </p:spPr>
        <p:txBody>
          <a:bodyPr wrap="square" lIns="0" rIns="0" tIns="0" bIns="0" anchor="t">
            <a:spAutoFit/>
          </a:bodyPr>
          <a:lstStyle/>
          <a:p>
            <a:pPr algn="l"/>
            <a:r>
              <a:rPr sz="1000" b="0" i="0">
                <a:solidFill>
                  <a:srgbClr val="5B6370"/>
                </a:solidFill>
                <a:latin typeface="Calibri"/>
              </a:rPr>
              <a:t>Sources : fichier consolidé IRVE (data.gouv.fr, 31/08/2026) ; population : Base Adresse Nationale</a:t>
            </a:r>
          </a:p>
        </p:txBody>
      </p:sp>
      <p:sp>
        <p:nvSpPr>
          <p:cNvPr id="4" name="Numéro"/>
          <p:cNvSpPr txBox="1"/>
          <p:nvPr/>
        </p:nvSpPr>
        <p:spPr>
          <a:xfrm>
            <a:off x="11155680" y="6400800"/>
            <a:ext cx="502920" cy="274320"/>
          </a:xfrm>
          <a:prstGeom prst="rect">
            <a:avLst/>
          </a:prstGeom>
          <a:noFill/>
        </p:spPr>
        <p:txBody>
          <a:bodyPr wrap="square" lIns="0" rIns="0" tIns="0" bIns="0" anchor="t">
            <a:spAutoFit/>
          </a:bodyPr>
          <a:lstStyle/>
          <a:p>
            <a:pPr algn="r"/>
            <a:r>
              <a:rPr sz="1000" b="0" i="0">
                <a:solidFill>
                  <a:srgbClr val="5B6370"/>
                </a:solidFill>
                <a:latin typeface="Calibri"/>
              </a:rPr>
              <a:t>5</a:t>
            </a:r>
          </a:p>
        </p:txBody>
      </p:sp>
      <p:sp>
        <p:nvSpPr>
          <p:cNvPr id="5" name="TextBox 4"/>
          <p:cNvSpPr txBox="1"/>
          <p:nvPr/>
        </p:nvSpPr>
        <p:spPr>
          <a:xfrm>
            <a:off x="548640" y="1371600"/>
            <a:ext cx="6766560" cy="365760"/>
          </a:xfrm>
          <a:prstGeom prst="rect">
            <a:avLst/>
          </a:prstGeom>
          <a:noFill/>
        </p:spPr>
        <p:txBody>
          <a:bodyPr wrap="square" lIns="0" rIns="0" tIns="0" bIns="0" anchor="t">
            <a:spAutoFit/>
          </a:bodyPr>
          <a:lstStyle/>
          <a:p>
            <a:pPr algn="l"/>
            <a:r>
              <a:rPr sz="1500" b="0" i="0">
                <a:solidFill>
                  <a:srgbClr val="5B6370"/>
                </a:solidFill>
                <a:latin typeface="Calibri"/>
              </a:rPr>
              <a:t>Habitants vivant dans un désert de recharge, par région</a:t>
            </a:r>
          </a:p>
        </p:txBody>
      </p:sp>
      <p:graphicFrame>
        <p:nvGraphicFramePr>
          <p:cNvPr id="6" name="Chart 5"/>
          <p:cNvGraphicFramePr>
            <a:graphicFrameLocks noGrp="1"/>
          </p:cNvGraphicFramePr>
          <p:nvPr/>
        </p:nvGraphicFramePr>
        <p:xfrm>
          <a:off x="457200" y="1737360"/>
          <a:ext cx="6949440" cy="4480560"/>
        </p:xfrm>
        <a:graphic>
          <a:graphicData uri="http://schemas.openxmlformats.org/drawingml/2006/chart">
            <c:chart xmlns:c="http://schemas.openxmlformats.org/drawingml/2006/chart" r:id="rId3"/>
          </a:graphicData>
        </a:graphic>
      </p:graphicFrame>
      <p:sp>
        <p:nvSpPr>
          <p:cNvPr id="7" name="Rounded Rectangle 6"/>
          <p:cNvSpPr/>
          <p:nvPr/>
        </p:nvSpPr>
        <p:spPr>
          <a:xfrm>
            <a:off x="7772400" y="1508760"/>
            <a:ext cx="3886200" cy="224028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0" y="1737360"/>
            <a:ext cx="3337560" cy="1120140"/>
          </a:xfrm>
          <a:prstGeom prst="rect">
            <a:avLst/>
          </a:prstGeom>
          <a:noFill/>
        </p:spPr>
        <p:txBody>
          <a:bodyPr wrap="square" lIns="0" rIns="0" tIns="0" bIns="0" anchor="b">
            <a:spAutoFit/>
          </a:bodyPr>
          <a:lstStyle/>
          <a:p>
            <a:pPr algn="l"/>
            <a:r>
              <a:rPr sz="5400" b="1" i="0">
                <a:solidFill>
                  <a:srgbClr val="E34948"/>
                </a:solidFill>
                <a:latin typeface="Calibri"/>
              </a:rPr>
              <a:t>73 %</a:t>
            </a:r>
          </a:p>
        </p:txBody>
      </p:sp>
      <p:sp>
        <p:nvSpPr>
          <p:cNvPr id="9" name="TextBox 8"/>
          <p:cNvSpPr txBox="1"/>
          <p:nvPr/>
        </p:nvSpPr>
        <p:spPr>
          <a:xfrm>
            <a:off x="8046720" y="2903220"/>
            <a:ext cx="3337560" cy="642366"/>
          </a:xfrm>
          <a:prstGeom prst="rect">
            <a:avLst/>
          </a:prstGeom>
          <a:noFill/>
        </p:spPr>
        <p:txBody>
          <a:bodyPr wrap="square" lIns="0" rIns="0" tIns="0" bIns="0" anchor="t">
            <a:spAutoFit/>
          </a:bodyPr>
          <a:lstStyle/>
          <a:p>
            <a:pPr algn="l"/>
            <a:r>
              <a:rPr sz="1500" b="0" i="0">
                <a:solidFill>
                  <a:srgbClr val="1F2937"/>
                </a:solidFill>
                <a:latin typeface="Calibri"/>
              </a:rPr>
              <a:t>des habitants en désert vivent outre-mer</a:t>
            </a:r>
          </a:p>
        </p:txBody>
      </p:sp>
      <p:sp>
        <p:nvSpPr>
          <p:cNvPr id="10" name="Rounded Rectangle 9"/>
          <p:cNvSpPr/>
          <p:nvPr/>
        </p:nvSpPr>
        <p:spPr>
          <a:xfrm>
            <a:off x="7772400" y="3977639"/>
            <a:ext cx="3886200" cy="219456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4206240"/>
            <a:ext cx="3429000" cy="1828800"/>
          </a:xfrm>
          <a:prstGeom prst="rect">
            <a:avLst/>
          </a:prstGeom>
          <a:noFill/>
        </p:spPr>
        <p:txBody>
          <a:bodyPr wrap="square" lIns="0" rIns="0" tIns="0" bIns="0" anchor="t">
            <a:spAutoFit/>
          </a:bodyPr>
          <a:lstStyle/>
          <a:p>
            <a:pPr algn="l">
              <a:spcAft>
                <a:spcPts val="800"/>
              </a:spcAft>
            </a:pPr>
            <a:r>
              <a:rPr sz="1600" b="1" i="0">
                <a:solidFill>
                  <a:srgbClr val="1F2937"/>
                </a:solidFill>
                <a:latin typeface="Calibri"/>
              </a:rPr>
              <a:t>Mayotte : </a:t>
            </a:r>
            <a:r>
              <a:rPr sz="1600" b="0" i="0">
                <a:solidFill>
                  <a:srgbClr val="1F2937"/>
                </a:solidFill>
                <a:latin typeface="Calibri"/>
              </a:rPr>
              <a:t>aucune borne publiée pour 256 518 habitants</a:t>
            </a:r>
          </a:p>
          <a:p>
            <a:pPr algn="l"/>
            <a:r>
              <a:rPr sz="1600" b="1" i="0">
                <a:solidFill>
                  <a:srgbClr val="1F2937"/>
                </a:solidFill>
                <a:latin typeface="Calibri"/>
              </a:rPr>
              <a:t>Métropole : </a:t>
            </a:r>
            <a:r>
              <a:rPr sz="1600" b="0" i="0">
                <a:solidFill>
                  <a:srgbClr val="1F2937"/>
                </a:solidFill>
                <a:latin typeface="Calibri"/>
              </a:rPr>
              <a:t>636 villages, la moitié de moins de 153 habitants, surtout dans la moitié nord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4213D"/>
                </a:solidFill>
                <a:latin typeface="Cambria"/>
              </a:rPr>
              <a:t>Recharge rapide : l'outre-mer reste à l'écart</a:t>
            </a:r>
          </a:p>
        </p:txBody>
      </p:sp>
      <p:sp>
        <p:nvSpPr>
          <p:cNvPr id="3" name="Source"/>
          <p:cNvSpPr txBox="1"/>
          <p:nvPr/>
        </p:nvSpPr>
        <p:spPr>
          <a:xfrm>
            <a:off x="548640" y="6400800"/>
            <a:ext cx="9601200" cy="274320"/>
          </a:xfrm>
          <a:prstGeom prst="rect">
            <a:avLst/>
          </a:prstGeom>
          <a:noFill/>
        </p:spPr>
        <p:txBody>
          <a:bodyPr wrap="square" lIns="0" rIns="0" tIns="0" bIns="0" anchor="t">
            <a:spAutoFit/>
          </a:bodyPr>
          <a:lstStyle/>
          <a:p>
            <a:pPr algn="l"/>
            <a:r>
              <a:rPr sz="1000" b="0" i="0">
                <a:solidFill>
                  <a:srgbClr val="5B6370"/>
                </a:solidFill>
                <a:latin typeface="Calibri"/>
              </a:rPr>
              <a:t>Sources : fichier consolidé IRVE (data.gouv.fr, 31/08/2026) ; population : Base Adresse Nationale</a:t>
            </a:r>
          </a:p>
        </p:txBody>
      </p:sp>
      <p:sp>
        <p:nvSpPr>
          <p:cNvPr id="4" name="Numéro"/>
          <p:cNvSpPr txBox="1"/>
          <p:nvPr/>
        </p:nvSpPr>
        <p:spPr>
          <a:xfrm>
            <a:off x="11155680" y="6400800"/>
            <a:ext cx="502920" cy="274320"/>
          </a:xfrm>
          <a:prstGeom prst="rect">
            <a:avLst/>
          </a:prstGeom>
          <a:noFill/>
        </p:spPr>
        <p:txBody>
          <a:bodyPr wrap="square" lIns="0" rIns="0" tIns="0" bIns="0" anchor="t">
            <a:spAutoFit/>
          </a:bodyPr>
          <a:lstStyle/>
          <a:p>
            <a:pPr algn="r"/>
            <a:r>
              <a:rPr sz="1000" b="0" i="0">
                <a:solidFill>
                  <a:srgbClr val="5B6370"/>
                </a:solidFill>
                <a:latin typeface="Calibri"/>
              </a:rPr>
              <a:t>6</a:t>
            </a:r>
          </a:p>
        </p:txBody>
      </p:sp>
      <p:sp>
        <p:nvSpPr>
          <p:cNvPr id="5" name="Rounded Rectangle 4"/>
          <p:cNvSpPr/>
          <p:nvPr/>
        </p:nvSpPr>
        <p:spPr>
          <a:xfrm>
            <a:off x="548640" y="1508760"/>
            <a:ext cx="5440680" cy="461772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457200"/>
          </a:xfrm>
          <a:prstGeom prst="rect">
            <a:avLst/>
          </a:prstGeom>
          <a:noFill/>
        </p:spPr>
        <p:txBody>
          <a:bodyPr wrap="square" lIns="0" rIns="0" tIns="0" bIns="0" anchor="t">
            <a:spAutoFit/>
          </a:bodyPr>
          <a:lstStyle/>
          <a:p>
            <a:pPr algn="l"/>
            <a:r>
              <a:rPr sz="1600" b="1" i="0">
                <a:solidFill>
                  <a:srgbClr val="5B6370"/>
                </a:solidFill>
                <a:latin typeface="Calibri"/>
              </a:rPr>
              <a:t>MÉTROPOLE</a:t>
            </a:r>
          </a:p>
        </p:txBody>
      </p:sp>
      <p:sp>
        <p:nvSpPr>
          <p:cNvPr id="7" name="TextBox 6"/>
          <p:cNvSpPr txBox="1"/>
          <p:nvPr/>
        </p:nvSpPr>
        <p:spPr>
          <a:xfrm>
            <a:off x="914400" y="2240280"/>
            <a:ext cx="4754880" cy="1188720"/>
          </a:xfrm>
          <a:prstGeom prst="rect">
            <a:avLst/>
          </a:prstGeom>
          <a:noFill/>
        </p:spPr>
        <p:txBody>
          <a:bodyPr wrap="square" lIns="0" rIns="0" tIns="0" bIns="0" anchor="t">
            <a:spAutoFit/>
          </a:bodyPr>
          <a:lstStyle/>
          <a:p>
            <a:pPr algn="l"/>
            <a:r>
              <a:rPr sz="6600" b="1" i="0">
                <a:solidFill>
                  <a:srgbClr val="2A78D6"/>
                </a:solidFill>
                <a:latin typeface="Calibri"/>
              </a:rPr>
              <a:t>99,9 %</a:t>
            </a:r>
          </a:p>
        </p:txBody>
      </p:sp>
      <p:sp>
        <p:nvSpPr>
          <p:cNvPr id="8" name="TextBox 7"/>
          <p:cNvSpPr txBox="1"/>
          <p:nvPr/>
        </p:nvSpPr>
        <p:spPr>
          <a:xfrm>
            <a:off x="914400" y="3520440"/>
            <a:ext cx="4754880" cy="822960"/>
          </a:xfrm>
          <a:prstGeom prst="rect">
            <a:avLst/>
          </a:prstGeom>
          <a:noFill/>
        </p:spPr>
        <p:txBody>
          <a:bodyPr wrap="square" lIns="0" rIns="0" tIns="0" bIns="0" anchor="t">
            <a:spAutoFit/>
          </a:bodyPr>
          <a:lstStyle/>
          <a:p>
            <a:pPr algn="l"/>
            <a:r>
              <a:rPr sz="1800" b="1" i="0">
                <a:solidFill>
                  <a:srgbClr val="1F2937"/>
                </a:solidFill>
                <a:latin typeface="Calibri"/>
              </a:rPr>
              <a:t>des habitants ont une borne de 150 kW à moins de 30 km</a:t>
            </a:r>
          </a:p>
        </p:txBody>
      </p:sp>
      <p:sp>
        <p:nvSpPr>
          <p:cNvPr id="9" name="TextBox 8"/>
          <p:cNvSpPr txBox="1"/>
          <p:nvPr/>
        </p:nvSpPr>
        <p:spPr>
          <a:xfrm>
            <a:off x="914400" y="4572000"/>
            <a:ext cx="4754880" cy="1280160"/>
          </a:xfrm>
          <a:prstGeom prst="rect">
            <a:avLst/>
          </a:prstGeom>
          <a:noFill/>
        </p:spPr>
        <p:txBody>
          <a:bodyPr wrap="square" lIns="0" rIns="0" tIns="0" bIns="0" anchor="t">
            <a:spAutoFit/>
          </a:bodyPr>
          <a:lstStyle/>
          <a:p>
            <a:pPr algn="l"/>
            <a:r>
              <a:rPr sz="1600" b="0" i="0">
                <a:solidFill>
                  <a:srgbClr val="1F2937"/>
                </a:solidFill>
                <a:latin typeface="Calibri"/>
              </a:rPr>
              <a:t>Seuls 67 406 habitants en sont éloignés, surtout des communes rurales isolées ou de montagne (Creuse, Alpes, Pyrénées)</a:t>
            </a:r>
          </a:p>
        </p:txBody>
      </p:sp>
      <p:sp>
        <p:nvSpPr>
          <p:cNvPr id="10" name="Rounded Rectangle 9"/>
          <p:cNvSpPr/>
          <p:nvPr/>
        </p:nvSpPr>
        <p:spPr>
          <a:xfrm>
            <a:off x="6172200" y="1508760"/>
            <a:ext cx="5440680" cy="461772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783080"/>
            <a:ext cx="4754880" cy="457200"/>
          </a:xfrm>
          <a:prstGeom prst="rect">
            <a:avLst/>
          </a:prstGeom>
          <a:noFill/>
        </p:spPr>
        <p:txBody>
          <a:bodyPr wrap="square" lIns="0" rIns="0" tIns="0" bIns="0" anchor="t">
            <a:spAutoFit/>
          </a:bodyPr>
          <a:lstStyle/>
          <a:p>
            <a:pPr algn="l"/>
            <a:r>
              <a:rPr sz="1600" b="1" i="0">
                <a:solidFill>
                  <a:srgbClr val="5B6370"/>
                </a:solidFill>
                <a:latin typeface="Calibri"/>
              </a:rPr>
              <a:t>OUTRE-MER</a:t>
            </a:r>
          </a:p>
        </p:txBody>
      </p:sp>
      <p:sp>
        <p:nvSpPr>
          <p:cNvPr id="12" name="TextBox 11"/>
          <p:cNvSpPr txBox="1"/>
          <p:nvPr/>
        </p:nvSpPr>
        <p:spPr>
          <a:xfrm>
            <a:off x="6537960" y="2240280"/>
            <a:ext cx="4754880" cy="1188720"/>
          </a:xfrm>
          <a:prstGeom prst="rect">
            <a:avLst/>
          </a:prstGeom>
          <a:noFill/>
        </p:spPr>
        <p:txBody>
          <a:bodyPr wrap="square" lIns="0" rIns="0" tIns="0" bIns="0" anchor="t">
            <a:spAutoFit/>
          </a:bodyPr>
          <a:lstStyle/>
          <a:p>
            <a:pPr algn="l"/>
            <a:r>
              <a:rPr sz="6600" b="1" i="0">
                <a:solidFill>
                  <a:srgbClr val="EB6834"/>
                </a:solidFill>
                <a:latin typeface="Calibri"/>
              </a:rPr>
              <a:t>73 %</a:t>
            </a:r>
          </a:p>
        </p:txBody>
      </p:sp>
      <p:sp>
        <p:nvSpPr>
          <p:cNvPr id="13" name="TextBox 12"/>
          <p:cNvSpPr txBox="1"/>
          <p:nvPr/>
        </p:nvSpPr>
        <p:spPr>
          <a:xfrm>
            <a:off x="6537960" y="3520440"/>
            <a:ext cx="4754880" cy="822960"/>
          </a:xfrm>
          <a:prstGeom prst="rect">
            <a:avLst/>
          </a:prstGeom>
          <a:noFill/>
        </p:spPr>
        <p:txBody>
          <a:bodyPr wrap="square" lIns="0" rIns="0" tIns="0" bIns="0" anchor="t">
            <a:spAutoFit/>
          </a:bodyPr>
          <a:lstStyle/>
          <a:p>
            <a:pPr algn="l"/>
            <a:r>
              <a:rPr sz="1800" b="1" i="0">
                <a:solidFill>
                  <a:srgbClr val="1F2937"/>
                </a:solidFill>
                <a:latin typeface="Calibri"/>
              </a:rPr>
              <a:t>des habitants sont à plus de 30 km d'une borne de 150 kW</a:t>
            </a:r>
          </a:p>
        </p:txBody>
      </p:sp>
      <p:sp>
        <p:nvSpPr>
          <p:cNvPr id="14" name="TextBox 13"/>
          <p:cNvSpPr txBox="1"/>
          <p:nvPr/>
        </p:nvSpPr>
        <p:spPr>
          <a:xfrm>
            <a:off x="6537960" y="4572000"/>
            <a:ext cx="4754880" cy="1280160"/>
          </a:xfrm>
          <a:prstGeom prst="rect">
            <a:avLst/>
          </a:prstGeom>
          <a:noFill/>
        </p:spPr>
        <p:txBody>
          <a:bodyPr wrap="square" lIns="0" rIns="0" tIns="0" bIns="0" anchor="t">
            <a:spAutoFit/>
          </a:bodyPr>
          <a:lstStyle/>
          <a:p>
            <a:pPr algn="l"/>
            <a:r>
              <a:rPr sz="1600" b="0" i="0">
                <a:solidFill>
                  <a:srgbClr val="1F2937"/>
                </a:solidFill>
                <a:latin typeface="Calibri"/>
              </a:rPr>
              <a:t>Aucune borne de 150 kW publiée en Guadeloupe, Martinique, Guyane et à Mayotte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4213D"/>
                </a:solidFill>
                <a:latin typeface="Cambria"/>
              </a:rPr>
              <a:t>Démonstration : le tableau de bord</a:t>
            </a:r>
          </a:p>
        </p:txBody>
      </p:sp>
      <p:sp>
        <p:nvSpPr>
          <p:cNvPr id="3" name="Source"/>
          <p:cNvSpPr txBox="1"/>
          <p:nvPr/>
        </p:nvSpPr>
        <p:spPr>
          <a:xfrm>
            <a:off x="548640" y="6400800"/>
            <a:ext cx="9601200" cy="274320"/>
          </a:xfrm>
          <a:prstGeom prst="rect">
            <a:avLst/>
          </a:prstGeom>
          <a:noFill/>
        </p:spPr>
        <p:txBody>
          <a:bodyPr wrap="square" lIns="0" rIns="0" tIns="0" bIns="0" anchor="t">
            <a:spAutoFit/>
          </a:bodyPr>
          <a:lstStyle/>
          <a:p>
            <a:pPr algn="l"/>
            <a:r>
              <a:rPr sz="1000" b="0" i="0">
                <a:solidFill>
                  <a:srgbClr val="5B6370"/>
                </a:solidFill>
                <a:latin typeface="Calibri"/>
              </a:rPr>
              <a:t>Sources : fichier consolidé IRVE (data.gouv.fr, 31/08/2026) ; population : Base Adresse Nationale</a:t>
            </a:r>
          </a:p>
        </p:txBody>
      </p:sp>
      <p:sp>
        <p:nvSpPr>
          <p:cNvPr id="4" name="Numéro"/>
          <p:cNvSpPr txBox="1"/>
          <p:nvPr/>
        </p:nvSpPr>
        <p:spPr>
          <a:xfrm>
            <a:off x="11155680" y="6400800"/>
            <a:ext cx="502920" cy="274320"/>
          </a:xfrm>
          <a:prstGeom prst="rect">
            <a:avLst/>
          </a:prstGeom>
          <a:noFill/>
        </p:spPr>
        <p:txBody>
          <a:bodyPr wrap="square" lIns="0" rIns="0" tIns="0" bIns="0" anchor="t">
            <a:spAutoFit/>
          </a:bodyPr>
          <a:lstStyle/>
          <a:p>
            <a:pPr algn="r"/>
            <a:r>
              <a:rPr sz="1000" b="0" i="0">
                <a:solidFill>
                  <a:srgbClr val="5B6370"/>
                </a:solidFill>
                <a:latin typeface="Calibri"/>
              </a:rPr>
              <a:t>7</a:t>
            </a:r>
          </a:p>
        </p:txBody>
      </p:sp>
      <p:sp>
        <p:nvSpPr>
          <p:cNvPr id="5" name="TextBox 4"/>
          <p:cNvSpPr txBox="1"/>
          <p:nvPr/>
        </p:nvSpPr>
        <p:spPr>
          <a:xfrm>
            <a:off x="548640" y="1417320"/>
            <a:ext cx="11064240" cy="457200"/>
          </a:xfrm>
          <a:prstGeom prst="rect">
            <a:avLst/>
          </a:prstGeom>
          <a:noFill/>
        </p:spPr>
        <p:txBody>
          <a:bodyPr wrap="square" lIns="0" rIns="0" tIns="0" bIns="0" anchor="t">
            <a:spAutoFit/>
          </a:bodyPr>
          <a:lstStyle/>
          <a:p>
            <a:pPr algn="l"/>
            <a:r>
              <a:rPr sz="1700" b="0" i="0">
                <a:solidFill>
                  <a:srgbClr val="5B6370"/>
                </a:solidFill>
                <a:latin typeface="Calibri"/>
              </a:rPr>
              <a:t>Trois pages, une par question ; chaque chiffre se recalcule quand on choisit une région ou un département</a:t>
            </a:r>
          </a:p>
        </p:txBody>
      </p:sp>
      <p:sp>
        <p:nvSpPr>
          <p:cNvPr id="6" name="Rounded Rectangle 5"/>
          <p:cNvSpPr/>
          <p:nvPr/>
        </p:nvSpPr>
        <p:spPr>
          <a:xfrm>
            <a:off x="548640" y="2148840"/>
            <a:ext cx="3520440" cy="356616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2423160"/>
            <a:ext cx="566928" cy="566928"/>
          </a:xfrm>
          <a:prstGeom prst="ellipse">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8" name="TextBox 7"/>
          <p:cNvSpPr txBox="1"/>
          <p:nvPr/>
        </p:nvSpPr>
        <p:spPr>
          <a:xfrm>
            <a:off x="868680" y="3200400"/>
            <a:ext cx="2926080" cy="822960"/>
          </a:xfrm>
          <a:prstGeom prst="rect">
            <a:avLst/>
          </a:prstGeom>
          <a:noFill/>
        </p:spPr>
        <p:txBody>
          <a:bodyPr wrap="square" lIns="0" rIns="0" tIns="0" bIns="0" anchor="t">
            <a:spAutoFit/>
          </a:bodyPr>
          <a:lstStyle/>
          <a:p>
            <a:pPr algn="l"/>
            <a:r>
              <a:rPr sz="2100" b="1" i="0">
                <a:solidFill>
                  <a:srgbClr val="14213D"/>
                </a:solidFill>
                <a:latin typeface="Calibri"/>
              </a:rPr>
              <a:t>Couverture et déserts</a:t>
            </a:r>
          </a:p>
        </p:txBody>
      </p:sp>
      <p:sp>
        <p:nvSpPr>
          <p:cNvPr id="9" name="TextBox 8"/>
          <p:cNvSpPr txBox="1"/>
          <p:nvPr/>
        </p:nvSpPr>
        <p:spPr>
          <a:xfrm>
            <a:off x="868680" y="4023360"/>
            <a:ext cx="2926080" cy="1554480"/>
          </a:xfrm>
          <a:prstGeom prst="rect">
            <a:avLst/>
          </a:prstGeom>
          <a:noFill/>
        </p:spPr>
        <p:txBody>
          <a:bodyPr wrap="square" lIns="0" rIns="0" tIns="0" bIns="0" anchor="t">
            <a:spAutoFit/>
          </a:bodyPr>
          <a:lstStyle/>
          <a:p>
            <a:pPr algn="l"/>
            <a:r>
              <a:rPr sz="1600" b="0" i="0">
                <a:solidFill>
                  <a:srgbClr val="1F2937"/>
                </a:solidFill>
                <a:latin typeface="Calibri"/>
              </a:rPr>
              <a:t>Carte des déserts, habitants concernés par région, détail par département</a:t>
            </a:r>
          </a:p>
        </p:txBody>
      </p:sp>
      <p:sp>
        <p:nvSpPr>
          <p:cNvPr id="10" name="Rounded Rectangle 9"/>
          <p:cNvSpPr/>
          <p:nvPr/>
        </p:nvSpPr>
        <p:spPr>
          <a:xfrm>
            <a:off x="4297679" y="2148840"/>
            <a:ext cx="3520440" cy="356616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17719" y="2423160"/>
            <a:ext cx="566928" cy="56692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2" name="TextBox 11"/>
          <p:cNvSpPr txBox="1"/>
          <p:nvPr/>
        </p:nvSpPr>
        <p:spPr>
          <a:xfrm>
            <a:off x="4617719" y="3200400"/>
            <a:ext cx="2926080" cy="822960"/>
          </a:xfrm>
          <a:prstGeom prst="rect">
            <a:avLst/>
          </a:prstGeom>
          <a:noFill/>
        </p:spPr>
        <p:txBody>
          <a:bodyPr wrap="square" lIns="0" rIns="0" tIns="0" bIns="0" anchor="t">
            <a:spAutoFit/>
          </a:bodyPr>
          <a:lstStyle/>
          <a:p>
            <a:pPr algn="l"/>
            <a:r>
              <a:rPr sz="2100" b="1" i="0">
                <a:solidFill>
                  <a:srgbClr val="14213D"/>
                </a:solidFill>
                <a:latin typeface="Calibri"/>
              </a:rPr>
              <a:t>Recharge 150 kW</a:t>
            </a:r>
          </a:p>
        </p:txBody>
      </p:sp>
      <p:sp>
        <p:nvSpPr>
          <p:cNvPr id="13" name="TextBox 12"/>
          <p:cNvSpPr txBox="1"/>
          <p:nvPr/>
        </p:nvSpPr>
        <p:spPr>
          <a:xfrm>
            <a:off x="4617719" y="4023360"/>
            <a:ext cx="2926080" cy="1554480"/>
          </a:xfrm>
          <a:prstGeom prst="rect">
            <a:avLst/>
          </a:prstGeom>
          <a:noFill/>
        </p:spPr>
        <p:txBody>
          <a:bodyPr wrap="square" lIns="0" rIns="0" tIns="0" bIns="0" anchor="t">
            <a:spAutoFit/>
          </a:bodyPr>
          <a:lstStyle/>
          <a:p>
            <a:pPr algn="l"/>
            <a:r>
              <a:rPr sz="1600" b="0" i="0">
                <a:solidFill>
                  <a:srgbClr val="1F2937"/>
                </a:solidFill>
                <a:latin typeface="Calibri"/>
              </a:rPr>
              <a:t>Part des bornes rapides par région, carte des déserts de recharge rapide</a:t>
            </a:r>
          </a:p>
        </p:txBody>
      </p:sp>
      <p:sp>
        <p:nvSpPr>
          <p:cNvPr id="14" name="Rounded Rectangle 13"/>
          <p:cNvSpPr/>
          <p:nvPr/>
        </p:nvSpPr>
        <p:spPr>
          <a:xfrm>
            <a:off x="8046719" y="2148840"/>
            <a:ext cx="3520440" cy="356616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66759" y="2423160"/>
            <a:ext cx="566928" cy="56692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6" name="TextBox 15"/>
          <p:cNvSpPr txBox="1"/>
          <p:nvPr/>
        </p:nvSpPr>
        <p:spPr>
          <a:xfrm>
            <a:off x="8366759" y="3200400"/>
            <a:ext cx="2926080" cy="822960"/>
          </a:xfrm>
          <a:prstGeom prst="rect">
            <a:avLst/>
          </a:prstGeom>
          <a:noFill/>
        </p:spPr>
        <p:txBody>
          <a:bodyPr wrap="square" lIns="0" rIns="0" tIns="0" bIns="0" anchor="t">
            <a:spAutoFit/>
          </a:bodyPr>
          <a:lstStyle/>
          <a:p>
            <a:pPr algn="l"/>
            <a:r>
              <a:rPr sz="2100" b="1" i="0">
                <a:solidFill>
                  <a:srgbClr val="14213D"/>
                </a:solidFill>
                <a:latin typeface="Calibri"/>
              </a:rPr>
              <a:t>Acteurs et dynamique</a:t>
            </a:r>
          </a:p>
        </p:txBody>
      </p:sp>
      <p:sp>
        <p:nvSpPr>
          <p:cNvPr id="17" name="TextBox 16"/>
          <p:cNvSpPr txBox="1"/>
          <p:nvPr/>
        </p:nvSpPr>
        <p:spPr>
          <a:xfrm>
            <a:off x="8366759" y="4023360"/>
            <a:ext cx="2926080" cy="1554480"/>
          </a:xfrm>
          <a:prstGeom prst="rect">
            <a:avLst/>
          </a:prstGeom>
          <a:noFill/>
        </p:spPr>
        <p:txBody>
          <a:bodyPr wrap="square" lIns="0" rIns="0" tIns="0" bIns="0" anchor="t">
            <a:spAutoFit/>
          </a:bodyPr>
          <a:lstStyle/>
          <a:p>
            <a:pPr algn="l"/>
            <a:r>
              <a:rPr sz="1600" b="0" i="0">
                <a:solidFill>
                  <a:srgbClr val="1F2937"/>
                </a:solidFill>
                <a:latin typeface="Calibri"/>
              </a:rPr>
              <a:t>Installations par année, part de la recharge rapide, principaux opérateurs</a:t>
            </a:r>
          </a:p>
        </p:txBody>
      </p:sp>
      <p:sp>
        <p:nvSpPr>
          <p:cNvPr id="18" name="TextBox 17"/>
          <p:cNvSpPr txBox="1"/>
          <p:nvPr/>
        </p:nvSpPr>
        <p:spPr>
          <a:xfrm>
            <a:off x="548640" y="5897880"/>
            <a:ext cx="11064240" cy="365760"/>
          </a:xfrm>
          <a:prstGeom prst="rect">
            <a:avLst/>
          </a:prstGeom>
          <a:noFill/>
        </p:spPr>
        <p:txBody>
          <a:bodyPr wrap="square" lIns="0" rIns="0" tIns="0" bIns="0" anchor="t">
            <a:spAutoFit/>
          </a:bodyPr>
          <a:lstStyle/>
          <a:p>
            <a:pPr algn="l"/>
            <a:r>
              <a:rPr sz="1300" b="0" i="1">
                <a:solidFill>
                  <a:srgbClr val="5B6370"/>
                </a:solidFill>
                <a:latin typeface="Calibri"/>
              </a:rPr>
              <a:t>Power BI · données du 31/08/2026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4213D"/>
                </a:solidFill>
                <a:latin typeface="Cambria"/>
              </a:rPr>
              <a:t>Un déploiement qui double et passe au rapide</a:t>
            </a:r>
          </a:p>
        </p:txBody>
      </p:sp>
      <p:sp>
        <p:nvSpPr>
          <p:cNvPr id="3" name="Source"/>
          <p:cNvSpPr txBox="1"/>
          <p:nvPr/>
        </p:nvSpPr>
        <p:spPr>
          <a:xfrm>
            <a:off x="548640" y="6400800"/>
            <a:ext cx="9601200" cy="274320"/>
          </a:xfrm>
          <a:prstGeom prst="rect">
            <a:avLst/>
          </a:prstGeom>
          <a:noFill/>
        </p:spPr>
        <p:txBody>
          <a:bodyPr wrap="square" lIns="0" rIns="0" tIns="0" bIns="0" anchor="t">
            <a:spAutoFit/>
          </a:bodyPr>
          <a:lstStyle/>
          <a:p>
            <a:pPr algn="l"/>
            <a:r>
              <a:rPr sz="1000" b="0" i="0">
                <a:solidFill>
                  <a:srgbClr val="5B6370"/>
                </a:solidFill>
                <a:latin typeface="Calibri"/>
              </a:rPr>
              <a:t>Sources : fichier consolidé IRVE (data.gouv.fr, 31/08/2026) ; population : Base Adresse Nationale</a:t>
            </a:r>
          </a:p>
        </p:txBody>
      </p:sp>
      <p:sp>
        <p:nvSpPr>
          <p:cNvPr id="4" name="Numéro"/>
          <p:cNvSpPr txBox="1"/>
          <p:nvPr/>
        </p:nvSpPr>
        <p:spPr>
          <a:xfrm>
            <a:off x="11155680" y="6400800"/>
            <a:ext cx="502920" cy="274320"/>
          </a:xfrm>
          <a:prstGeom prst="rect">
            <a:avLst/>
          </a:prstGeom>
          <a:noFill/>
        </p:spPr>
        <p:txBody>
          <a:bodyPr wrap="square" lIns="0" rIns="0" tIns="0" bIns="0" anchor="t">
            <a:spAutoFit/>
          </a:bodyPr>
          <a:lstStyle/>
          <a:p>
            <a:pPr algn="r"/>
            <a:r>
              <a:rPr sz="1000" b="0" i="0">
                <a:solidFill>
                  <a:srgbClr val="5B6370"/>
                </a:solidFill>
                <a:latin typeface="Calibri"/>
              </a:rPr>
              <a:t>8</a:t>
            </a:r>
          </a:p>
        </p:txBody>
      </p:sp>
      <p:sp>
        <p:nvSpPr>
          <p:cNvPr id="5" name="TextBox 4"/>
          <p:cNvSpPr txBox="1"/>
          <p:nvPr/>
        </p:nvSpPr>
        <p:spPr>
          <a:xfrm>
            <a:off x="548640" y="1371600"/>
            <a:ext cx="6766560" cy="365760"/>
          </a:xfrm>
          <a:prstGeom prst="rect">
            <a:avLst/>
          </a:prstGeom>
          <a:noFill/>
        </p:spPr>
        <p:txBody>
          <a:bodyPr wrap="square" lIns="0" rIns="0" tIns="0" bIns="0" anchor="t">
            <a:spAutoFit/>
          </a:bodyPr>
          <a:lstStyle/>
          <a:p>
            <a:pPr algn="l"/>
            <a:r>
              <a:rPr sz="1500" b="0" i="0">
                <a:solidFill>
                  <a:srgbClr val="5B6370"/>
                </a:solidFill>
                <a:latin typeface="Calibri"/>
              </a:rPr>
              <a:t>Bornes mises en service chaque année</a:t>
            </a:r>
          </a:p>
        </p:txBody>
      </p:sp>
      <p:graphicFrame>
        <p:nvGraphicFramePr>
          <p:cNvPr id="6" name="Chart 5"/>
          <p:cNvGraphicFramePr>
            <a:graphicFrameLocks noGrp="1"/>
          </p:cNvGraphicFramePr>
          <p:nvPr/>
        </p:nvGraphicFramePr>
        <p:xfrm>
          <a:off x="457200" y="1737360"/>
          <a:ext cx="6949440" cy="4160520"/>
        </p:xfrm>
        <a:graphic>
          <a:graphicData uri="http://schemas.openxmlformats.org/drawingml/2006/chart">
            <c:chart xmlns:c="http://schemas.openxmlformats.org/drawingml/2006/chart" r:id="rId3"/>
          </a:graphicData>
        </a:graphic>
      </p:graphicFrame>
      <p:sp>
        <p:nvSpPr>
          <p:cNvPr id="7" name="TextBox 6"/>
          <p:cNvSpPr txBox="1"/>
          <p:nvPr/>
        </p:nvSpPr>
        <p:spPr>
          <a:xfrm>
            <a:off x="548640" y="5943600"/>
            <a:ext cx="6766560" cy="320040"/>
          </a:xfrm>
          <a:prstGeom prst="rect">
            <a:avLst/>
          </a:prstGeom>
          <a:noFill/>
        </p:spPr>
        <p:txBody>
          <a:bodyPr wrap="square" lIns="0" rIns="0" tIns="0" bIns="0" anchor="t">
            <a:spAutoFit/>
          </a:bodyPr>
          <a:lstStyle/>
          <a:p>
            <a:pPr algn="l"/>
            <a:r>
              <a:rPr sz="1100" b="0" i="1">
                <a:solidFill>
                  <a:srgbClr val="5B6370"/>
                </a:solidFill>
                <a:latin typeface="Calibri"/>
              </a:rPr>
              <a:t>Bornes dont la date est connue (61 % du parc) ; 2026 non représenté (année incomplète)</a:t>
            </a:r>
          </a:p>
        </p:txBody>
      </p:sp>
      <p:sp>
        <p:nvSpPr>
          <p:cNvPr id="8" name="Rounded Rectangle 7"/>
          <p:cNvSpPr/>
          <p:nvPr/>
        </p:nvSpPr>
        <p:spPr>
          <a:xfrm>
            <a:off x="7772400" y="1508760"/>
            <a:ext cx="3886200" cy="224028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1737360"/>
            <a:ext cx="3337560" cy="1120140"/>
          </a:xfrm>
          <a:prstGeom prst="rect">
            <a:avLst/>
          </a:prstGeom>
          <a:noFill/>
        </p:spPr>
        <p:txBody>
          <a:bodyPr wrap="square" lIns="0" rIns="0" tIns="0" bIns="0" anchor="b">
            <a:spAutoFit/>
          </a:bodyPr>
          <a:lstStyle/>
          <a:p>
            <a:pPr algn="l"/>
            <a:r>
              <a:rPr sz="5400" b="1" i="0">
                <a:solidFill>
                  <a:srgbClr val="2A78D6"/>
                </a:solidFill>
                <a:latin typeface="Calibri"/>
              </a:rPr>
              <a:t>× 2</a:t>
            </a:r>
          </a:p>
        </p:txBody>
      </p:sp>
      <p:sp>
        <p:nvSpPr>
          <p:cNvPr id="10" name="TextBox 9"/>
          <p:cNvSpPr txBox="1"/>
          <p:nvPr/>
        </p:nvSpPr>
        <p:spPr>
          <a:xfrm>
            <a:off x="8046720" y="2903220"/>
            <a:ext cx="3337560" cy="642366"/>
          </a:xfrm>
          <a:prstGeom prst="rect">
            <a:avLst/>
          </a:prstGeom>
          <a:noFill/>
        </p:spPr>
        <p:txBody>
          <a:bodyPr wrap="square" lIns="0" rIns="0" tIns="0" bIns="0" anchor="t">
            <a:spAutoFit/>
          </a:bodyPr>
          <a:lstStyle/>
          <a:p>
            <a:pPr algn="l"/>
            <a:r>
              <a:rPr sz="1500" b="0" i="0">
                <a:solidFill>
                  <a:srgbClr val="1F2937"/>
                </a:solidFill>
                <a:latin typeface="Calibri"/>
              </a:rPr>
              <a:t>bornes installées par an entre 2021 et 2025</a:t>
            </a:r>
          </a:p>
        </p:txBody>
      </p:sp>
      <p:sp>
        <p:nvSpPr>
          <p:cNvPr id="11" name="Rounded Rectangle 10"/>
          <p:cNvSpPr/>
          <p:nvPr/>
        </p:nvSpPr>
        <p:spPr>
          <a:xfrm>
            <a:off x="7772400" y="3931920"/>
            <a:ext cx="3886200" cy="224028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4160520"/>
            <a:ext cx="3337560" cy="1120140"/>
          </a:xfrm>
          <a:prstGeom prst="rect">
            <a:avLst/>
          </a:prstGeom>
          <a:noFill/>
        </p:spPr>
        <p:txBody>
          <a:bodyPr wrap="square" lIns="0" rIns="0" tIns="0" bIns="0" anchor="b">
            <a:spAutoFit/>
          </a:bodyPr>
          <a:lstStyle/>
          <a:p>
            <a:pPr algn="l"/>
            <a:r>
              <a:rPr sz="5400" b="1" i="0">
                <a:solidFill>
                  <a:srgbClr val="EB6834"/>
                </a:solidFill>
                <a:latin typeface="Calibri"/>
              </a:rPr>
              <a:t>1 sur 3</a:t>
            </a:r>
          </a:p>
        </p:txBody>
      </p:sp>
      <p:sp>
        <p:nvSpPr>
          <p:cNvPr id="13" name="TextBox 12"/>
          <p:cNvSpPr txBox="1"/>
          <p:nvPr/>
        </p:nvSpPr>
        <p:spPr>
          <a:xfrm>
            <a:off x="8046720" y="5326379"/>
            <a:ext cx="3337560" cy="642366"/>
          </a:xfrm>
          <a:prstGeom prst="rect">
            <a:avLst/>
          </a:prstGeom>
          <a:noFill/>
        </p:spPr>
        <p:txBody>
          <a:bodyPr wrap="square" lIns="0" rIns="0" tIns="0" bIns="0" anchor="t">
            <a:spAutoFit/>
          </a:bodyPr>
          <a:lstStyle/>
          <a:p>
            <a:pPr algn="l"/>
            <a:r>
              <a:rPr sz="1500" b="0" i="0">
                <a:solidFill>
                  <a:srgbClr val="1F2937"/>
                </a:solidFill>
                <a:latin typeface="Calibri"/>
              </a:rPr>
              <a:t>bornes installées en 2024 est ultra-rapide (150 kW et plus), contre 1 sur 11 en 2021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4213D"/>
                </a:solidFill>
                <a:latin typeface="Cambria"/>
              </a:rPr>
              <a:t>Un modèle repère 557 communes « oubliées »</a:t>
            </a:r>
          </a:p>
        </p:txBody>
      </p:sp>
      <p:sp>
        <p:nvSpPr>
          <p:cNvPr id="3" name="Source"/>
          <p:cNvSpPr txBox="1"/>
          <p:nvPr/>
        </p:nvSpPr>
        <p:spPr>
          <a:xfrm>
            <a:off x="548640" y="6400800"/>
            <a:ext cx="9601200" cy="274320"/>
          </a:xfrm>
          <a:prstGeom prst="rect">
            <a:avLst/>
          </a:prstGeom>
          <a:noFill/>
        </p:spPr>
        <p:txBody>
          <a:bodyPr wrap="square" lIns="0" rIns="0" tIns="0" bIns="0" anchor="t">
            <a:spAutoFit/>
          </a:bodyPr>
          <a:lstStyle/>
          <a:p>
            <a:pPr algn="l"/>
            <a:r>
              <a:rPr sz="1000" b="0" i="0">
                <a:solidFill>
                  <a:srgbClr val="5B6370"/>
                </a:solidFill>
                <a:latin typeface="Calibri"/>
              </a:rPr>
              <a:t>Sources : fichier consolidé IRVE (data.gouv.fr, 31/08/2026) ; population : Base Adresse Nationale</a:t>
            </a:r>
          </a:p>
        </p:txBody>
      </p:sp>
      <p:sp>
        <p:nvSpPr>
          <p:cNvPr id="4" name="Numéro"/>
          <p:cNvSpPr txBox="1"/>
          <p:nvPr/>
        </p:nvSpPr>
        <p:spPr>
          <a:xfrm>
            <a:off x="11155680" y="6400800"/>
            <a:ext cx="502920" cy="274320"/>
          </a:xfrm>
          <a:prstGeom prst="rect">
            <a:avLst/>
          </a:prstGeom>
          <a:noFill/>
        </p:spPr>
        <p:txBody>
          <a:bodyPr wrap="square" lIns="0" rIns="0" tIns="0" bIns="0" anchor="t">
            <a:spAutoFit/>
          </a:bodyPr>
          <a:lstStyle/>
          <a:p>
            <a:pPr algn="r"/>
            <a:r>
              <a:rPr sz="1000" b="0" i="0">
                <a:solidFill>
                  <a:srgbClr val="5B6370"/>
                </a:solidFill>
                <a:latin typeface="Calibri"/>
              </a:rPr>
              <a:t>9</a:t>
            </a:r>
          </a:p>
        </p:txBody>
      </p:sp>
      <p:sp>
        <p:nvSpPr>
          <p:cNvPr id="5" name="TextBox 4"/>
          <p:cNvSpPr txBox="1"/>
          <p:nvPr/>
        </p:nvSpPr>
        <p:spPr>
          <a:xfrm>
            <a:off x="548640" y="1280160"/>
            <a:ext cx="11064240" cy="411480"/>
          </a:xfrm>
          <a:prstGeom prst="rect">
            <a:avLst/>
          </a:prstGeom>
          <a:noFill/>
        </p:spPr>
        <p:txBody>
          <a:bodyPr wrap="square" lIns="0" rIns="0" tIns="0" bIns="0" anchor="t">
            <a:spAutoFit/>
          </a:bodyPr>
          <a:lstStyle/>
          <a:p>
            <a:pPr algn="l"/>
            <a:r>
              <a:rPr sz="1800" b="1" i="0">
                <a:solidFill>
                  <a:srgbClr val="14213D"/>
                </a:solidFill>
                <a:latin typeface="Calibri"/>
              </a:rPr>
              <a:t>La question posée au modèle : au vu de son profil, cette commune devrait-elle avoir une borne ?</a:t>
            </a:r>
          </a:p>
        </p:txBody>
      </p:sp>
      <p:sp>
        <p:nvSpPr>
          <p:cNvPr id="6" name="TextBox 5"/>
          <p:cNvSpPr txBox="1"/>
          <p:nvPr/>
        </p:nvSpPr>
        <p:spPr>
          <a:xfrm>
            <a:off x="548640" y="1828800"/>
            <a:ext cx="5852160" cy="365760"/>
          </a:xfrm>
          <a:prstGeom prst="rect">
            <a:avLst/>
          </a:prstGeom>
          <a:noFill/>
        </p:spPr>
        <p:txBody>
          <a:bodyPr wrap="square" lIns="0" rIns="0" tIns="0" bIns="0" anchor="t">
            <a:spAutoFit/>
          </a:bodyPr>
          <a:lstStyle/>
          <a:p>
            <a:pPr algn="l"/>
            <a:r>
              <a:rPr sz="1500" b="0" i="0">
                <a:solidFill>
                  <a:srgbClr val="5B6370"/>
                </a:solidFill>
                <a:latin typeface="Calibri"/>
              </a:rPr>
              <a:t>Probabilité d'avoir une borne, selon le nombre d'habitants</a:t>
            </a:r>
          </a:p>
        </p:txBody>
      </p:sp>
      <p:graphicFrame>
        <p:nvGraphicFramePr>
          <p:cNvPr id="7" name="Chart 6"/>
          <p:cNvGraphicFramePr>
            <a:graphicFrameLocks noGrp="1"/>
          </p:cNvGraphicFramePr>
          <p:nvPr/>
        </p:nvGraphicFramePr>
        <p:xfrm>
          <a:off x="457200" y="2194560"/>
          <a:ext cx="5943600" cy="4023360"/>
        </p:xfrm>
        <a:graphic>
          <a:graphicData uri="http://schemas.openxmlformats.org/drawingml/2006/chart">
            <c:chart xmlns:c="http://schemas.openxmlformats.org/drawingml/2006/chart" r:id="rId3"/>
          </a:graphicData>
        </a:graphic>
      </p:graphicFrame>
      <p:sp>
        <p:nvSpPr>
          <p:cNvPr id="8" name="Rounded Rectangle 7"/>
          <p:cNvSpPr/>
          <p:nvPr/>
        </p:nvSpPr>
        <p:spPr>
          <a:xfrm>
            <a:off x="6675120" y="1874519"/>
            <a:ext cx="2377440" cy="164592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0" y="2103120"/>
            <a:ext cx="1828800" cy="822960"/>
          </a:xfrm>
          <a:prstGeom prst="rect">
            <a:avLst/>
          </a:prstGeom>
          <a:noFill/>
        </p:spPr>
        <p:txBody>
          <a:bodyPr wrap="square" lIns="0" rIns="0" tIns="0" bIns="0" anchor="b">
            <a:spAutoFit/>
          </a:bodyPr>
          <a:lstStyle/>
          <a:p>
            <a:pPr algn="l"/>
            <a:r>
              <a:rPr sz="4000" b="1" i="0">
                <a:solidFill>
                  <a:srgbClr val="EB6834"/>
                </a:solidFill>
                <a:latin typeface="Calibri"/>
              </a:rPr>
              <a:t>557</a:t>
            </a:r>
          </a:p>
        </p:txBody>
      </p:sp>
      <p:sp>
        <p:nvSpPr>
          <p:cNvPr id="10" name="TextBox 9"/>
          <p:cNvSpPr txBox="1"/>
          <p:nvPr/>
        </p:nvSpPr>
        <p:spPr>
          <a:xfrm>
            <a:off x="6949440" y="2971799"/>
            <a:ext cx="1828800" cy="374904"/>
          </a:xfrm>
          <a:prstGeom prst="rect">
            <a:avLst/>
          </a:prstGeom>
          <a:noFill/>
        </p:spPr>
        <p:txBody>
          <a:bodyPr wrap="square" lIns="0" rIns="0" tIns="0" bIns="0" anchor="t">
            <a:spAutoFit/>
          </a:bodyPr>
          <a:lstStyle/>
          <a:p>
            <a:pPr algn="l"/>
            <a:r>
              <a:rPr sz="1500" b="0" i="0">
                <a:solidFill>
                  <a:srgbClr val="1F2937"/>
                </a:solidFill>
                <a:latin typeface="Calibri"/>
              </a:rPr>
              <a:t>communes sans borne au profil équipé</a:t>
            </a:r>
          </a:p>
        </p:txBody>
      </p:sp>
      <p:sp>
        <p:nvSpPr>
          <p:cNvPr id="11" name="Rounded Rectangle 10"/>
          <p:cNvSpPr/>
          <p:nvPr/>
        </p:nvSpPr>
        <p:spPr>
          <a:xfrm>
            <a:off x="9281160" y="1874519"/>
            <a:ext cx="2377440" cy="164592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55480" y="2103120"/>
            <a:ext cx="1828800" cy="822960"/>
          </a:xfrm>
          <a:prstGeom prst="rect">
            <a:avLst/>
          </a:prstGeom>
          <a:noFill/>
        </p:spPr>
        <p:txBody>
          <a:bodyPr wrap="square" lIns="0" rIns="0" tIns="0" bIns="0" anchor="b">
            <a:spAutoFit/>
          </a:bodyPr>
          <a:lstStyle/>
          <a:p>
            <a:pPr algn="l"/>
            <a:r>
              <a:rPr sz="4000" b="1" i="0">
                <a:solidFill>
                  <a:srgbClr val="EB6834"/>
                </a:solidFill>
                <a:latin typeface="Calibri"/>
              </a:rPr>
              <a:t>1,6 M</a:t>
            </a:r>
          </a:p>
        </p:txBody>
      </p:sp>
      <p:sp>
        <p:nvSpPr>
          <p:cNvPr id="13" name="TextBox 12"/>
          <p:cNvSpPr txBox="1"/>
          <p:nvPr/>
        </p:nvSpPr>
        <p:spPr>
          <a:xfrm>
            <a:off x="9555480" y="2971799"/>
            <a:ext cx="1828800" cy="374904"/>
          </a:xfrm>
          <a:prstGeom prst="rect">
            <a:avLst/>
          </a:prstGeom>
          <a:noFill/>
        </p:spPr>
        <p:txBody>
          <a:bodyPr wrap="square" lIns="0" rIns="0" tIns="0" bIns="0" anchor="t">
            <a:spAutoFit/>
          </a:bodyPr>
          <a:lstStyle/>
          <a:p>
            <a:pPr algn="l"/>
            <a:r>
              <a:rPr sz="1500" b="0" i="0">
                <a:solidFill>
                  <a:srgbClr val="1F2937"/>
                </a:solidFill>
                <a:latin typeface="Calibri"/>
              </a:rPr>
              <a:t>habitants concernés</a:t>
            </a:r>
          </a:p>
        </p:txBody>
      </p:sp>
      <p:sp>
        <p:nvSpPr>
          <p:cNvPr id="14" name="Rounded Rectangle 13"/>
          <p:cNvSpPr/>
          <p:nvPr/>
        </p:nvSpPr>
        <p:spPr>
          <a:xfrm>
            <a:off x="6675120" y="3703320"/>
            <a:ext cx="4983480" cy="25146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0" y="3886200"/>
            <a:ext cx="4480560" cy="2194560"/>
          </a:xfrm>
          <a:prstGeom prst="rect">
            <a:avLst/>
          </a:prstGeom>
          <a:noFill/>
        </p:spPr>
        <p:txBody>
          <a:bodyPr wrap="square" lIns="0" rIns="0" tIns="0" bIns="0" anchor="t">
            <a:spAutoFit/>
          </a:bodyPr>
          <a:lstStyle/>
          <a:p>
            <a:pPr algn="l">
              <a:spcAft>
                <a:spcPts val="800"/>
              </a:spcAft>
            </a:pPr>
            <a:r>
              <a:rPr sz="1600" b="1" i="0">
                <a:solidFill>
                  <a:srgbClr val="EB6834"/>
                </a:solidFill>
                <a:latin typeface="Calibri"/>
              </a:rPr>
              <a:t>77 % </a:t>
            </a:r>
            <a:r>
              <a:rPr sz="1600" b="0" i="0">
                <a:solidFill>
                  <a:srgbClr val="1F2937"/>
                </a:solidFill>
                <a:latin typeface="Calibri"/>
              </a:rPr>
              <a:t>sont en périphérie d'une ville</a:t>
            </a:r>
          </a:p>
          <a:p>
            <a:pPr algn="l">
              <a:spcAft>
                <a:spcPts val="800"/>
              </a:spcAft>
            </a:pPr>
            <a:r>
              <a:rPr sz="1600" b="1" i="0">
                <a:solidFill>
                  <a:srgbClr val="EB6834"/>
                </a:solidFill>
                <a:latin typeface="Calibri"/>
              </a:rPr>
              <a:t>79 % </a:t>
            </a:r>
            <a:r>
              <a:rPr sz="1600" b="0" i="0">
                <a:solidFill>
                  <a:srgbClr val="1F2937"/>
                </a:solidFill>
                <a:latin typeface="Calibri"/>
              </a:rPr>
              <a:t>ont une borne à moins de 5 km</a:t>
            </a:r>
          </a:p>
          <a:p>
            <a:pPr algn="l">
              <a:spcAft>
                <a:spcPts val="800"/>
              </a:spcAft>
            </a:pPr>
            <a:r>
              <a:rPr sz="1600" b="1" i="0">
                <a:solidFill>
                  <a:srgbClr val="1F2937"/>
                </a:solidFill>
                <a:latin typeface="Calibri"/>
              </a:rPr>
              <a:t>Ex. : </a:t>
            </a:r>
            <a:r>
              <a:rPr sz="1600" b="0" i="0">
                <a:solidFill>
                  <a:srgbClr val="1F2937"/>
                </a:solidFill>
                <a:latin typeface="Calibri"/>
              </a:rPr>
              <a:t>Thorigny-sur-Marne, 10 440 habitants, borne la plus proche à 1,3 km</a:t>
            </a:r>
          </a:p>
          <a:p>
            <a:pPr algn="l"/>
            <a:r>
              <a:rPr sz="1600" b="1" i="0">
                <a:solidFill>
                  <a:srgbClr val="14213D"/>
                </a:solidFill>
                <a:latin typeface="Calibri"/>
              </a:rPr>
              <a:t>Machine learning : </a:t>
            </a:r>
            <a:r>
              <a:rPr sz="1400" b="0" i="0">
                <a:solidFill>
                  <a:srgbClr val="5B6370"/>
                </a:solidFill>
                <a:latin typeface="Calibri"/>
              </a:rPr>
              <a:t>3 modèles comparés, le plus simple retenu ; juste dans 87 % des comparaisons, testé sur 20 départements jamais vus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4213D"/>
                </a:solidFill>
                <a:latin typeface="Cambria"/>
              </a:rPr>
              <a:t>Trois modèles comparés : le plus simple suffit</a:t>
            </a:r>
          </a:p>
        </p:txBody>
      </p:sp>
      <p:sp>
        <p:nvSpPr>
          <p:cNvPr id="3" name="Source"/>
          <p:cNvSpPr txBox="1"/>
          <p:nvPr/>
        </p:nvSpPr>
        <p:spPr>
          <a:xfrm>
            <a:off x="548640" y="6400800"/>
            <a:ext cx="9601200" cy="274320"/>
          </a:xfrm>
          <a:prstGeom prst="rect">
            <a:avLst/>
          </a:prstGeom>
          <a:noFill/>
        </p:spPr>
        <p:txBody>
          <a:bodyPr wrap="square" lIns="0" rIns="0" tIns="0" bIns="0" anchor="t">
            <a:spAutoFit/>
          </a:bodyPr>
          <a:lstStyle/>
          <a:p>
            <a:pPr algn="l"/>
            <a:r>
              <a:rPr sz="1000" b="0" i="0">
                <a:solidFill>
                  <a:srgbClr val="5B6370"/>
                </a:solidFill>
                <a:latin typeface="Calibri"/>
              </a:rPr>
              <a:t>Sources : fichier consolidé IRVE (data.gouv.fr, 31/08/2026) ; population : Base Adresse Nationale</a:t>
            </a:r>
          </a:p>
        </p:txBody>
      </p:sp>
      <p:sp>
        <p:nvSpPr>
          <p:cNvPr id="4" name="Numéro"/>
          <p:cNvSpPr txBox="1"/>
          <p:nvPr/>
        </p:nvSpPr>
        <p:spPr>
          <a:xfrm>
            <a:off x="11155680" y="6400800"/>
            <a:ext cx="502920" cy="274320"/>
          </a:xfrm>
          <a:prstGeom prst="rect">
            <a:avLst/>
          </a:prstGeom>
          <a:noFill/>
        </p:spPr>
        <p:txBody>
          <a:bodyPr wrap="square" lIns="0" rIns="0" tIns="0" bIns="0" anchor="t">
            <a:spAutoFit/>
          </a:bodyPr>
          <a:lstStyle/>
          <a:p>
            <a:pPr algn="r"/>
            <a:r>
              <a:rPr sz="1000" b="0" i="0">
                <a:solidFill>
                  <a:srgbClr val="5B6370"/>
                </a:solidFill>
                <a:latin typeface="Calibri"/>
              </a:rPr>
              <a:t>10</a:t>
            </a:r>
          </a:p>
        </p:txBody>
      </p:sp>
      <p:sp>
        <p:nvSpPr>
          <p:cNvPr id="5" name="TextBox 4"/>
          <p:cNvSpPr txBox="1"/>
          <p:nvPr/>
        </p:nvSpPr>
        <p:spPr>
          <a:xfrm>
            <a:off x="548640" y="1371600"/>
            <a:ext cx="6035040" cy="365760"/>
          </a:xfrm>
          <a:prstGeom prst="rect">
            <a:avLst/>
          </a:prstGeom>
          <a:noFill/>
        </p:spPr>
        <p:txBody>
          <a:bodyPr wrap="square" lIns="0" rIns="0" tIns="0" bIns="0" anchor="t">
            <a:spAutoFit/>
          </a:bodyPr>
          <a:lstStyle/>
          <a:p>
            <a:pPr algn="l"/>
            <a:r>
              <a:rPr sz="1500" b="0" i="0">
                <a:solidFill>
                  <a:srgbClr val="5B6370"/>
                </a:solidFill>
                <a:latin typeface="Calibri"/>
              </a:rPr>
              <a:t>Score sur 20 départements jamais vus par les modèles (AUC)</a:t>
            </a:r>
          </a:p>
        </p:txBody>
      </p:sp>
      <p:graphicFrame>
        <p:nvGraphicFramePr>
          <p:cNvPr id="6" name="Chart 5"/>
          <p:cNvGraphicFramePr>
            <a:graphicFrameLocks noGrp="1"/>
          </p:cNvGraphicFramePr>
          <p:nvPr/>
        </p:nvGraphicFramePr>
        <p:xfrm>
          <a:off x="457200" y="1737360"/>
          <a:ext cx="6126480" cy="3291840"/>
        </p:xfrm>
        <a:graphic>
          <a:graphicData uri="http://schemas.openxmlformats.org/drawingml/2006/chart">
            <c:chart xmlns:c="http://schemas.openxmlformats.org/drawingml/2006/chart" r:id="rId3"/>
          </a:graphicData>
        </a:graphic>
      </p:graphicFrame>
      <p:sp>
        <p:nvSpPr>
          <p:cNvPr id="7" name="TextBox 6"/>
          <p:cNvSpPr txBox="1"/>
          <p:nvPr/>
        </p:nvSpPr>
        <p:spPr>
          <a:xfrm>
            <a:off x="548640" y="5166360"/>
            <a:ext cx="6035040" cy="1005840"/>
          </a:xfrm>
          <a:prstGeom prst="rect">
            <a:avLst/>
          </a:prstGeom>
          <a:noFill/>
        </p:spPr>
        <p:txBody>
          <a:bodyPr wrap="square" lIns="0" rIns="0" tIns="0" bIns="0" anchor="t">
            <a:spAutoFit/>
          </a:bodyPr>
          <a:lstStyle/>
          <a:p>
            <a:pPr algn="l"/>
            <a:r>
              <a:rPr sz="1400" b="0" i="1">
                <a:solidFill>
                  <a:srgbClr val="5B6370"/>
                </a:solidFill>
                <a:latin typeface="Calibri"/>
              </a:rPr>
              <a:t>AUC de 0,871 : en comparant une commune équipée et une commune sans borne, le modèle donne la bonne réponse dans 87 % des cas.</a:t>
            </a:r>
          </a:p>
        </p:txBody>
      </p:sp>
      <p:sp>
        <p:nvSpPr>
          <p:cNvPr id="8" name="Rounded Rectangle 7"/>
          <p:cNvSpPr/>
          <p:nvPr/>
        </p:nvSpPr>
        <p:spPr>
          <a:xfrm>
            <a:off x="6949440" y="1508760"/>
            <a:ext cx="4709160" cy="466344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69480" y="1737360"/>
            <a:ext cx="4114800" cy="457200"/>
          </a:xfrm>
          <a:prstGeom prst="rect">
            <a:avLst/>
          </a:prstGeom>
          <a:noFill/>
        </p:spPr>
        <p:txBody>
          <a:bodyPr wrap="square" lIns="0" rIns="0" tIns="0" bIns="0" anchor="t">
            <a:spAutoFit/>
          </a:bodyPr>
          <a:lstStyle/>
          <a:p>
            <a:pPr algn="l"/>
            <a:r>
              <a:rPr sz="2000" b="1" i="0">
                <a:solidFill>
                  <a:srgbClr val="14213D"/>
                </a:solidFill>
                <a:latin typeface="Calibri"/>
              </a:rPr>
              <a:t>Pourquoi le plus simple ?</a:t>
            </a:r>
          </a:p>
        </p:txBody>
      </p:sp>
      <p:sp>
        <p:nvSpPr>
          <p:cNvPr id="10" name="TextBox 9"/>
          <p:cNvSpPr txBox="1"/>
          <p:nvPr/>
        </p:nvSpPr>
        <p:spPr>
          <a:xfrm>
            <a:off x="7269480" y="2377440"/>
            <a:ext cx="1371600" cy="1005840"/>
          </a:xfrm>
          <a:prstGeom prst="rect">
            <a:avLst/>
          </a:prstGeom>
          <a:noFill/>
        </p:spPr>
        <p:txBody>
          <a:bodyPr wrap="square" lIns="0" rIns="0" tIns="0" bIns="0" anchor="t">
            <a:spAutoFit/>
          </a:bodyPr>
          <a:lstStyle/>
          <a:p>
            <a:pPr algn="l"/>
            <a:r>
              <a:rPr sz="2400" b="1" i="0">
                <a:solidFill>
                  <a:srgbClr val="2A78D6"/>
                </a:solidFill>
                <a:latin typeface="Calibri"/>
              </a:rPr>
              <a:t>0,003</a:t>
            </a:r>
          </a:p>
        </p:txBody>
      </p:sp>
      <p:sp>
        <p:nvSpPr>
          <p:cNvPr id="11" name="TextBox 10"/>
          <p:cNvSpPr txBox="1"/>
          <p:nvPr/>
        </p:nvSpPr>
        <p:spPr>
          <a:xfrm>
            <a:off x="8686800" y="2423160"/>
            <a:ext cx="2743200" cy="1097280"/>
          </a:xfrm>
          <a:prstGeom prst="rect">
            <a:avLst/>
          </a:prstGeom>
          <a:noFill/>
        </p:spPr>
        <p:txBody>
          <a:bodyPr wrap="square" lIns="0" rIns="0" tIns="0" bIns="0" anchor="t">
            <a:spAutoFit/>
          </a:bodyPr>
          <a:lstStyle/>
          <a:p>
            <a:pPr algn="l"/>
            <a:r>
              <a:rPr sz="1500" b="0" i="0">
                <a:solidFill>
                  <a:srgbClr val="1F2937"/>
                </a:solidFill>
                <a:latin typeface="Calibri"/>
              </a:rPr>
              <a:t>d'écart avec le meilleur : négligeable, selon une règle fixée avant les résultats (moins de 0,01)</a:t>
            </a:r>
          </a:p>
        </p:txBody>
      </p:sp>
      <p:sp>
        <p:nvSpPr>
          <p:cNvPr id="12" name="TextBox 11"/>
          <p:cNvSpPr txBox="1"/>
          <p:nvPr/>
        </p:nvSpPr>
        <p:spPr>
          <a:xfrm>
            <a:off x="7269480" y="3611880"/>
            <a:ext cx="1371600" cy="1005840"/>
          </a:xfrm>
          <a:prstGeom prst="rect">
            <a:avLst/>
          </a:prstGeom>
          <a:noFill/>
        </p:spPr>
        <p:txBody>
          <a:bodyPr wrap="square" lIns="0" rIns="0" tIns="0" bIns="0" anchor="t">
            <a:spAutoFit/>
          </a:bodyPr>
          <a:lstStyle/>
          <a:p>
            <a:pPr algn="l"/>
            <a:r>
              <a:rPr sz="2400" b="1" i="0">
                <a:solidFill>
                  <a:srgbClr val="2A78D6"/>
                </a:solidFill>
                <a:latin typeface="Calibri"/>
              </a:rPr>
              <a:t>Lisible</a:t>
            </a:r>
          </a:p>
        </p:txBody>
      </p:sp>
      <p:sp>
        <p:nvSpPr>
          <p:cNvPr id="13" name="TextBox 12"/>
          <p:cNvSpPr txBox="1"/>
          <p:nvPr/>
        </p:nvSpPr>
        <p:spPr>
          <a:xfrm>
            <a:off x="8686800" y="3657600"/>
            <a:ext cx="2743200" cy="1097280"/>
          </a:xfrm>
          <a:prstGeom prst="rect">
            <a:avLst/>
          </a:prstGeom>
          <a:noFill/>
        </p:spPr>
        <p:txBody>
          <a:bodyPr wrap="square" lIns="0" rIns="0" tIns="0" bIns="0" anchor="t">
            <a:spAutoFit/>
          </a:bodyPr>
          <a:lstStyle/>
          <a:p>
            <a:pPr algn="l"/>
            <a:r>
              <a:rPr sz="1500" b="0" i="0">
                <a:solidFill>
                  <a:srgbClr val="1F2937"/>
                </a:solidFill>
                <a:latin typeface="Calibri"/>
              </a:rPr>
              <a:t>on peut expliquer le poids de chaque facteur à un élu ou à un aménageur</a:t>
            </a:r>
          </a:p>
        </p:txBody>
      </p:sp>
      <p:sp>
        <p:nvSpPr>
          <p:cNvPr id="14" name="TextBox 13"/>
          <p:cNvSpPr txBox="1"/>
          <p:nvPr/>
        </p:nvSpPr>
        <p:spPr>
          <a:xfrm>
            <a:off x="7269480" y="4846320"/>
            <a:ext cx="1371600" cy="1005840"/>
          </a:xfrm>
          <a:prstGeom prst="rect">
            <a:avLst/>
          </a:prstGeom>
          <a:noFill/>
        </p:spPr>
        <p:txBody>
          <a:bodyPr wrap="square" lIns="0" rIns="0" tIns="0" bIns="0" anchor="t">
            <a:spAutoFit/>
          </a:bodyPr>
          <a:lstStyle/>
          <a:p>
            <a:pPr algn="l"/>
            <a:r>
              <a:rPr sz="2400" b="1" i="0">
                <a:solidFill>
                  <a:srgbClr val="2A78D6"/>
                </a:solidFill>
                <a:latin typeface="Calibri"/>
              </a:rPr>
              <a:t>Rapide</a:t>
            </a:r>
          </a:p>
        </p:txBody>
      </p:sp>
      <p:sp>
        <p:nvSpPr>
          <p:cNvPr id="15" name="TextBox 14"/>
          <p:cNvSpPr txBox="1"/>
          <p:nvPr/>
        </p:nvSpPr>
        <p:spPr>
          <a:xfrm>
            <a:off x="8686800" y="4892040"/>
            <a:ext cx="2743200" cy="1097280"/>
          </a:xfrm>
          <a:prstGeom prst="rect">
            <a:avLst/>
          </a:prstGeom>
          <a:noFill/>
        </p:spPr>
        <p:txBody>
          <a:bodyPr wrap="square" lIns="0" rIns="0" tIns="0" bIns="0" anchor="t">
            <a:spAutoFit/>
          </a:bodyPr>
          <a:lstStyle/>
          <a:p>
            <a:pPr algn="l"/>
            <a:r>
              <a:rPr sz="1500" b="0" i="0">
                <a:solidFill>
                  <a:srgbClr val="1F2937"/>
                </a:solidFill>
                <a:latin typeface="Calibri"/>
              </a:rPr>
              <a:t>quelques secondes d'entraînement, contre plus de 30 s pour la Random Forest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4213D"/>
                </a:solidFill>
                <a:latin typeface="Cambria"/>
              </a:rPr>
              <a:t>Trois priorités pour les prochaines bornes</a:t>
            </a:r>
          </a:p>
        </p:txBody>
      </p:sp>
      <p:sp>
        <p:nvSpPr>
          <p:cNvPr id="3" name="Source"/>
          <p:cNvSpPr txBox="1"/>
          <p:nvPr/>
        </p:nvSpPr>
        <p:spPr>
          <a:xfrm>
            <a:off x="548640" y="6400800"/>
            <a:ext cx="9601200" cy="274320"/>
          </a:xfrm>
          <a:prstGeom prst="rect">
            <a:avLst/>
          </a:prstGeom>
          <a:noFill/>
        </p:spPr>
        <p:txBody>
          <a:bodyPr wrap="square" lIns="0" rIns="0" tIns="0" bIns="0" anchor="t">
            <a:spAutoFit/>
          </a:bodyPr>
          <a:lstStyle/>
          <a:p>
            <a:pPr algn="l"/>
            <a:r>
              <a:rPr sz="1000" b="0" i="0">
                <a:solidFill>
                  <a:srgbClr val="5B6370"/>
                </a:solidFill>
                <a:latin typeface="Calibri"/>
              </a:rPr>
              <a:t>Sources : fichier consolidé IRVE (data.gouv.fr, 31/08/2026) ; population : Base Adresse Nationale</a:t>
            </a:r>
          </a:p>
        </p:txBody>
      </p:sp>
      <p:sp>
        <p:nvSpPr>
          <p:cNvPr id="4" name="Numéro"/>
          <p:cNvSpPr txBox="1"/>
          <p:nvPr/>
        </p:nvSpPr>
        <p:spPr>
          <a:xfrm>
            <a:off x="11155680" y="6400800"/>
            <a:ext cx="502920" cy="274320"/>
          </a:xfrm>
          <a:prstGeom prst="rect">
            <a:avLst/>
          </a:prstGeom>
          <a:noFill/>
        </p:spPr>
        <p:txBody>
          <a:bodyPr wrap="square" lIns="0" rIns="0" tIns="0" bIns="0" anchor="t">
            <a:spAutoFit/>
          </a:bodyPr>
          <a:lstStyle/>
          <a:p>
            <a:pPr algn="r"/>
            <a:r>
              <a:rPr sz="1000" b="0" i="0">
                <a:solidFill>
                  <a:srgbClr val="5B6370"/>
                </a:solidFill>
                <a:latin typeface="Calibri"/>
              </a:rPr>
              <a:t>11</a:t>
            </a:r>
          </a:p>
        </p:txBody>
      </p:sp>
      <p:sp>
        <p:nvSpPr>
          <p:cNvPr id="5" name="Rounded Rectangle 4"/>
          <p:cNvSpPr/>
          <p:nvPr/>
        </p:nvSpPr>
        <p:spPr>
          <a:xfrm>
            <a:off x="548640" y="1508760"/>
            <a:ext cx="3520440" cy="329184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783080"/>
            <a:ext cx="566928" cy="566928"/>
          </a:xfrm>
          <a:prstGeom prst="ellipse">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7" name="TextBox 6"/>
          <p:cNvSpPr txBox="1"/>
          <p:nvPr/>
        </p:nvSpPr>
        <p:spPr>
          <a:xfrm>
            <a:off x="868680" y="2560320"/>
            <a:ext cx="2926080" cy="548640"/>
          </a:xfrm>
          <a:prstGeom prst="rect">
            <a:avLst/>
          </a:prstGeom>
          <a:noFill/>
        </p:spPr>
        <p:txBody>
          <a:bodyPr wrap="square" lIns="0" rIns="0" tIns="0" bIns="0" anchor="t">
            <a:spAutoFit/>
          </a:bodyPr>
          <a:lstStyle/>
          <a:p>
            <a:pPr algn="l"/>
            <a:r>
              <a:rPr sz="2100" b="1" i="0">
                <a:solidFill>
                  <a:srgbClr val="14213D"/>
                </a:solidFill>
                <a:latin typeface="Calibri"/>
              </a:rPr>
              <a:t>Outre-mer d'abord</a:t>
            </a:r>
          </a:p>
        </p:txBody>
      </p:sp>
      <p:sp>
        <p:nvSpPr>
          <p:cNvPr id="8" name="TextBox 7"/>
          <p:cNvSpPr txBox="1"/>
          <p:nvPr/>
        </p:nvSpPr>
        <p:spPr>
          <a:xfrm>
            <a:off x="868680" y="3154680"/>
            <a:ext cx="2926080" cy="1554480"/>
          </a:xfrm>
          <a:prstGeom prst="rect">
            <a:avLst/>
          </a:prstGeom>
          <a:noFill/>
        </p:spPr>
        <p:txBody>
          <a:bodyPr wrap="square" lIns="0" rIns="0" tIns="0" bIns="0" anchor="t">
            <a:spAutoFit/>
          </a:bodyPr>
          <a:lstStyle/>
          <a:p>
            <a:pPr algn="l"/>
            <a:r>
              <a:rPr sz="1600" b="0" i="0">
                <a:solidFill>
                  <a:srgbClr val="1F2937"/>
                </a:solidFill>
                <a:latin typeface="Calibri"/>
              </a:rPr>
              <a:t>Mayotte : aucune borne. Antilles et Guyane : aucune borne de 150 kW.</a:t>
            </a:r>
          </a:p>
        </p:txBody>
      </p:sp>
      <p:sp>
        <p:nvSpPr>
          <p:cNvPr id="9" name="Rounded Rectangle 8"/>
          <p:cNvSpPr/>
          <p:nvPr/>
        </p:nvSpPr>
        <p:spPr>
          <a:xfrm>
            <a:off x="4297679" y="1508760"/>
            <a:ext cx="3520440" cy="329184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17719" y="1783080"/>
            <a:ext cx="566928" cy="566928"/>
          </a:xfrm>
          <a:prstGeom prst="ellipse">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1" name="TextBox 10"/>
          <p:cNvSpPr txBox="1"/>
          <p:nvPr/>
        </p:nvSpPr>
        <p:spPr>
          <a:xfrm>
            <a:off x="4617719" y="2560320"/>
            <a:ext cx="2926080" cy="548640"/>
          </a:xfrm>
          <a:prstGeom prst="rect">
            <a:avLst/>
          </a:prstGeom>
          <a:noFill/>
        </p:spPr>
        <p:txBody>
          <a:bodyPr wrap="square" lIns="0" rIns="0" tIns="0" bIns="0" anchor="t">
            <a:spAutoFit/>
          </a:bodyPr>
          <a:lstStyle/>
          <a:p>
            <a:pPr algn="l"/>
            <a:r>
              <a:rPr sz="2100" b="1" i="0">
                <a:solidFill>
                  <a:srgbClr val="14213D"/>
                </a:solidFill>
                <a:latin typeface="Calibri"/>
              </a:rPr>
              <a:t>Villages isolés</a:t>
            </a:r>
          </a:p>
        </p:txBody>
      </p:sp>
      <p:sp>
        <p:nvSpPr>
          <p:cNvPr id="12" name="TextBox 11"/>
          <p:cNvSpPr txBox="1"/>
          <p:nvPr/>
        </p:nvSpPr>
        <p:spPr>
          <a:xfrm>
            <a:off x="4617719" y="3154680"/>
            <a:ext cx="2926080" cy="1554480"/>
          </a:xfrm>
          <a:prstGeom prst="rect">
            <a:avLst/>
          </a:prstGeom>
          <a:noFill/>
        </p:spPr>
        <p:txBody>
          <a:bodyPr wrap="square" lIns="0" rIns="0" tIns="0" bIns="0" anchor="t">
            <a:spAutoFit/>
          </a:bodyPr>
          <a:lstStyle/>
          <a:p>
            <a:pPr algn="l"/>
            <a:r>
              <a:rPr sz="1600" b="0" i="0">
                <a:solidFill>
                  <a:srgbClr val="1F2937"/>
                </a:solidFill>
                <a:latin typeface="Calibri"/>
              </a:rPr>
              <a:t>636 communes de métropole à plus de 10 km d'une borne, surtout dans la moitié nord.</a:t>
            </a:r>
          </a:p>
        </p:txBody>
      </p:sp>
      <p:sp>
        <p:nvSpPr>
          <p:cNvPr id="13" name="Rounded Rectangle 12"/>
          <p:cNvSpPr/>
          <p:nvPr/>
        </p:nvSpPr>
        <p:spPr>
          <a:xfrm>
            <a:off x="8046719" y="1508760"/>
            <a:ext cx="3520440" cy="329184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66759" y="1783080"/>
            <a:ext cx="566928" cy="56692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5" name="TextBox 14"/>
          <p:cNvSpPr txBox="1"/>
          <p:nvPr/>
        </p:nvSpPr>
        <p:spPr>
          <a:xfrm>
            <a:off x="8366759" y="2560320"/>
            <a:ext cx="2926080" cy="548640"/>
          </a:xfrm>
          <a:prstGeom prst="rect">
            <a:avLst/>
          </a:prstGeom>
          <a:noFill/>
        </p:spPr>
        <p:txBody>
          <a:bodyPr wrap="square" lIns="0" rIns="0" tIns="0" bIns="0" anchor="t">
            <a:spAutoFit/>
          </a:bodyPr>
          <a:lstStyle/>
          <a:p>
            <a:pPr algn="l"/>
            <a:r>
              <a:rPr sz="2100" b="1" i="0">
                <a:solidFill>
                  <a:srgbClr val="14213D"/>
                </a:solidFill>
                <a:latin typeface="Calibri"/>
              </a:rPr>
              <a:t>Bourgs périurbains</a:t>
            </a:r>
          </a:p>
        </p:txBody>
      </p:sp>
      <p:sp>
        <p:nvSpPr>
          <p:cNvPr id="16" name="TextBox 15"/>
          <p:cNvSpPr txBox="1"/>
          <p:nvPr/>
        </p:nvSpPr>
        <p:spPr>
          <a:xfrm>
            <a:off x="8366759" y="3154680"/>
            <a:ext cx="2926080" cy="1554480"/>
          </a:xfrm>
          <a:prstGeom prst="rect">
            <a:avLst/>
          </a:prstGeom>
          <a:noFill/>
        </p:spPr>
        <p:txBody>
          <a:bodyPr wrap="square" lIns="0" rIns="0" tIns="0" bIns="0" anchor="t">
            <a:spAutoFit/>
          </a:bodyPr>
          <a:lstStyle/>
          <a:p>
            <a:pPr algn="l"/>
            <a:r>
              <a:rPr sz="1600" b="0" i="0">
                <a:solidFill>
                  <a:srgbClr val="1F2937"/>
                </a:solidFill>
                <a:latin typeface="Calibri"/>
              </a:rPr>
              <a:t>557 communes sans borne au profil de commune équipée : 1,6 million d'habitants.</a:t>
            </a:r>
          </a:p>
        </p:txBody>
      </p:sp>
      <p:sp>
        <p:nvSpPr>
          <p:cNvPr id="17" name="Rounded Rectangle 16"/>
          <p:cNvSpPr/>
          <p:nvPr/>
        </p:nvSpPr>
        <p:spPr>
          <a:xfrm>
            <a:off x="548640" y="5029200"/>
            <a:ext cx="11109960" cy="109728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5029200"/>
            <a:ext cx="10515600" cy="1097280"/>
          </a:xfrm>
          <a:prstGeom prst="rect">
            <a:avLst/>
          </a:prstGeom>
          <a:noFill/>
        </p:spPr>
        <p:txBody>
          <a:bodyPr wrap="square" lIns="0" rIns="0" tIns="0" bIns="0" anchor="ctr">
            <a:spAutoFit/>
          </a:bodyPr>
          <a:lstStyle/>
          <a:p>
            <a:pPr algn="l"/>
            <a:r>
              <a:rPr sz="1700" b="1" i="0">
                <a:solidFill>
                  <a:srgbClr val="FFFFFF"/>
                </a:solidFill>
                <a:latin typeface="Calibri"/>
              </a:rPr>
              <a:t>Et pour aller plus loin : </a:t>
            </a:r>
            <a:r>
              <a:rPr sz="1700" b="0" i="0">
                <a:solidFill>
                  <a:srgbClr val="FFFFFF"/>
                </a:solidFill>
                <a:latin typeface="Calibri"/>
              </a:rPr>
              <a:t>publier des données d'usage (occupation, attente) pour mesurer le besoin réel, et pas seulement l'offre.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14213D"/>
                </a:solidFill>
                <a:latin typeface="Cambria"/>
              </a:rPr>
              <a:t>Les coulisses : de la donnée brute au tableau de bord</a:t>
            </a:r>
          </a:p>
        </p:txBody>
      </p:sp>
      <p:sp>
        <p:nvSpPr>
          <p:cNvPr id="3" name="Source"/>
          <p:cNvSpPr txBox="1"/>
          <p:nvPr/>
        </p:nvSpPr>
        <p:spPr>
          <a:xfrm>
            <a:off x="548640" y="6400800"/>
            <a:ext cx="9601200" cy="274320"/>
          </a:xfrm>
          <a:prstGeom prst="rect">
            <a:avLst/>
          </a:prstGeom>
          <a:noFill/>
        </p:spPr>
        <p:txBody>
          <a:bodyPr wrap="square" lIns="0" rIns="0" tIns="0" bIns="0" anchor="t">
            <a:spAutoFit/>
          </a:bodyPr>
          <a:lstStyle/>
          <a:p>
            <a:pPr algn="l"/>
            <a:r>
              <a:rPr sz="1000" b="0" i="0">
                <a:solidFill>
                  <a:srgbClr val="5B6370"/>
                </a:solidFill>
                <a:latin typeface="Calibri"/>
              </a:rPr>
              <a:t>Sources : fichier consolidé IRVE (data.gouv.fr, 31/08/2026) ; population : Base Adresse Nationale</a:t>
            </a:r>
          </a:p>
        </p:txBody>
      </p:sp>
      <p:sp>
        <p:nvSpPr>
          <p:cNvPr id="4" name="Numéro"/>
          <p:cNvSpPr txBox="1"/>
          <p:nvPr/>
        </p:nvSpPr>
        <p:spPr>
          <a:xfrm>
            <a:off x="11155680" y="6400800"/>
            <a:ext cx="502920" cy="274320"/>
          </a:xfrm>
          <a:prstGeom prst="rect">
            <a:avLst/>
          </a:prstGeom>
          <a:noFill/>
        </p:spPr>
        <p:txBody>
          <a:bodyPr wrap="square" lIns="0" rIns="0" tIns="0" bIns="0" anchor="t">
            <a:spAutoFit/>
          </a:bodyPr>
          <a:lstStyle/>
          <a:p>
            <a:pPr algn="r"/>
            <a:r>
              <a:rPr sz="1000" b="0" i="0">
                <a:solidFill>
                  <a:srgbClr val="5B6370"/>
                </a:solidFill>
                <a:latin typeface="Calibri"/>
              </a:rPr>
              <a:t>12</a:t>
            </a:r>
          </a:p>
        </p:txBody>
      </p:sp>
      <p:sp>
        <p:nvSpPr>
          <p:cNvPr id="5" name="Rounded Rectangle 4"/>
          <p:cNvSpPr/>
          <p:nvPr/>
        </p:nvSpPr>
        <p:spPr>
          <a:xfrm>
            <a:off x="548640" y="1554480"/>
            <a:ext cx="1965960" cy="242316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37360"/>
            <a:ext cx="1600200" cy="411480"/>
          </a:xfrm>
          <a:prstGeom prst="rect">
            <a:avLst/>
          </a:prstGeom>
          <a:noFill/>
        </p:spPr>
        <p:txBody>
          <a:bodyPr wrap="square" lIns="0" rIns="0" tIns="0" bIns="0" anchor="t">
            <a:spAutoFit/>
          </a:bodyPr>
          <a:lstStyle/>
          <a:p>
            <a:pPr algn="l"/>
            <a:r>
              <a:rPr sz="1200" b="1" i="0">
                <a:solidFill>
                  <a:srgbClr val="5B6370"/>
                </a:solidFill>
                <a:latin typeface="Calibri"/>
              </a:rPr>
              <a:t>DONNÉES BRUTES</a:t>
            </a:r>
          </a:p>
        </p:txBody>
      </p:sp>
      <p:sp>
        <p:nvSpPr>
          <p:cNvPr id="7" name="TextBox 6"/>
          <p:cNvSpPr txBox="1"/>
          <p:nvPr/>
        </p:nvSpPr>
        <p:spPr>
          <a:xfrm>
            <a:off x="731520" y="2148840"/>
            <a:ext cx="1600200" cy="685800"/>
          </a:xfrm>
          <a:prstGeom prst="rect">
            <a:avLst/>
          </a:prstGeom>
          <a:noFill/>
        </p:spPr>
        <p:txBody>
          <a:bodyPr wrap="square" lIns="0" rIns="0" tIns="0" bIns="0" anchor="t">
            <a:spAutoFit/>
          </a:bodyPr>
          <a:lstStyle/>
          <a:p>
            <a:pPr algn="l"/>
            <a:r>
              <a:rPr sz="2600" b="1" i="0">
                <a:solidFill>
                  <a:srgbClr val="14213D"/>
                </a:solidFill>
                <a:latin typeface="Calibri"/>
              </a:rPr>
              <a:t>227 000</a:t>
            </a:r>
          </a:p>
        </p:txBody>
      </p:sp>
      <p:sp>
        <p:nvSpPr>
          <p:cNvPr id="8" name="TextBox 7"/>
          <p:cNvSpPr txBox="1"/>
          <p:nvPr/>
        </p:nvSpPr>
        <p:spPr>
          <a:xfrm>
            <a:off x="731520" y="2834640"/>
            <a:ext cx="1600200" cy="1097280"/>
          </a:xfrm>
          <a:prstGeom prst="rect">
            <a:avLst/>
          </a:prstGeom>
          <a:noFill/>
        </p:spPr>
        <p:txBody>
          <a:bodyPr wrap="square" lIns="0" rIns="0" tIns="0" bIns="0" anchor="t">
            <a:spAutoFit/>
          </a:bodyPr>
          <a:lstStyle/>
          <a:p>
            <a:pPr algn="l"/>
            <a:r>
              <a:rPr sz="1400" b="0" i="0">
                <a:solidFill>
                  <a:srgbClr val="1F2937"/>
                </a:solidFill>
                <a:latin typeface="Calibri"/>
              </a:rPr>
              <a:t>lignes, 2 sources publiques : bornes et population</a:t>
            </a:r>
          </a:p>
        </p:txBody>
      </p:sp>
      <p:sp>
        <p:nvSpPr>
          <p:cNvPr id="9" name="Chevron 8"/>
          <p:cNvSpPr/>
          <p:nvPr/>
        </p:nvSpPr>
        <p:spPr>
          <a:xfrm>
            <a:off x="2569464" y="2606040"/>
            <a:ext cx="201168" cy="310896"/>
          </a:xfrm>
          <a:prstGeom prst="chevron">
            <a:avLst/>
          </a:prstGeom>
          <a:solidFill>
            <a:srgbClr val="5B63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25496" y="1554480"/>
            <a:ext cx="1965960" cy="242316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08376" y="1737360"/>
            <a:ext cx="1600200" cy="411480"/>
          </a:xfrm>
          <a:prstGeom prst="rect">
            <a:avLst/>
          </a:prstGeom>
          <a:noFill/>
        </p:spPr>
        <p:txBody>
          <a:bodyPr wrap="square" lIns="0" rIns="0" tIns="0" bIns="0" anchor="t">
            <a:spAutoFit/>
          </a:bodyPr>
          <a:lstStyle/>
          <a:p>
            <a:pPr algn="l"/>
            <a:r>
              <a:rPr sz="1200" b="1" i="0">
                <a:solidFill>
                  <a:srgbClr val="5B6370"/>
                </a:solidFill>
                <a:latin typeface="Calibri"/>
              </a:rPr>
              <a:t>NETTOYAGE</a:t>
            </a:r>
          </a:p>
        </p:txBody>
      </p:sp>
      <p:sp>
        <p:nvSpPr>
          <p:cNvPr id="12" name="TextBox 11"/>
          <p:cNvSpPr txBox="1"/>
          <p:nvPr/>
        </p:nvSpPr>
        <p:spPr>
          <a:xfrm>
            <a:off x="3008376" y="2148840"/>
            <a:ext cx="1600200" cy="685800"/>
          </a:xfrm>
          <a:prstGeom prst="rect">
            <a:avLst/>
          </a:prstGeom>
          <a:noFill/>
        </p:spPr>
        <p:txBody>
          <a:bodyPr wrap="square" lIns="0" rIns="0" tIns="0" bIns="0" anchor="t">
            <a:spAutoFit/>
          </a:bodyPr>
          <a:lstStyle/>
          <a:p>
            <a:pPr algn="l"/>
            <a:r>
              <a:rPr sz="2600" b="1" i="0">
                <a:solidFill>
                  <a:srgbClr val="2A78D6"/>
                </a:solidFill>
                <a:latin typeface="Calibri"/>
              </a:rPr>
              <a:t>166 430</a:t>
            </a:r>
          </a:p>
        </p:txBody>
      </p:sp>
      <p:sp>
        <p:nvSpPr>
          <p:cNvPr id="13" name="TextBox 12"/>
          <p:cNvSpPr txBox="1"/>
          <p:nvPr/>
        </p:nvSpPr>
        <p:spPr>
          <a:xfrm>
            <a:off x="3008376" y="2834640"/>
            <a:ext cx="1600200" cy="1097280"/>
          </a:xfrm>
          <a:prstGeom prst="rect">
            <a:avLst/>
          </a:prstGeom>
          <a:noFill/>
        </p:spPr>
        <p:txBody>
          <a:bodyPr wrap="square" lIns="0" rIns="0" tIns="0" bIns="0" anchor="t">
            <a:spAutoFit/>
          </a:bodyPr>
          <a:lstStyle/>
          <a:p>
            <a:pPr algn="l"/>
            <a:r>
              <a:rPr sz="1400" b="0" i="0">
                <a:solidFill>
                  <a:srgbClr val="1F2937"/>
                </a:solidFill>
                <a:latin typeface="Calibri"/>
              </a:rPr>
              <a:t>bornes après 60 000 doublons retirés, chacune rattachée à sa commune</a:t>
            </a:r>
          </a:p>
        </p:txBody>
      </p:sp>
      <p:sp>
        <p:nvSpPr>
          <p:cNvPr id="14" name="Chevron 13"/>
          <p:cNvSpPr/>
          <p:nvPr/>
        </p:nvSpPr>
        <p:spPr>
          <a:xfrm>
            <a:off x="4846320" y="2606040"/>
            <a:ext cx="201168" cy="310896"/>
          </a:xfrm>
          <a:prstGeom prst="chevron">
            <a:avLst/>
          </a:prstGeom>
          <a:solidFill>
            <a:srgbClr val="5B63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102351" y="1554480"/>
            <a:ext cx="1965960" cy="242316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85231" y="1737360"/>
            <a:ext cx="1600200" cy="411480"/>
          </a:xfrm>
          <a:prstGeom prst="rect">
            <a:avLst/>
          </a:prstGeom>
          <a:noFill/>
        </p:spPr>
        <p:txBody>
          <a:bodyPr wrap="square" lIns="0" rIns="0" tIns="0" bIns="0" anchor="t">
            <a:spAutoFit/>
          </a:bodyPr>
          <a:lstStyle/>
          <a:p>
            <a:pPr algn="l"/>
            <a:r>
              <a:rPr sz="1200" b="1" i="0">
                <a:solidFill>
                  <a:srgbClr val="5B6370"/>
                </a:solidFill>
                <a:latin typeface="Calibri"/>
              </a:rPr>
              <a:t>BASE DE DONNÉES</a:t>
            </a:r>
          </a:p>
        </p:txBody>
      </p:sp>
      <p:sp>
        <p:nvSpPr>
          <p:cNvPr id="17" name="TextBox 16"/>
          <p:cNvSpPr txBox="1"/>
          <p:nvPr/>
        </p:nvSpPr>
        <p:spPr>
          <a:xfrm>
            <a:off x="5285231" y="2148840"/>
            <a:ext cx="1600200" cy="685800"/>
          </a:xfrm>
          <a:prstGeom prst="rect">
            <a:avLst/>
          </a:prstGeom>
          <a:noFill/>
        </p:spPr>
        <p:txBody>
          <a:bodyPr wrap="square" lIns="0" rIns="0" tIns="0" bIns="0" anchor="t">
            <a:spAutoFit/>
          </a:bodyPr>
          <a:lstStyle/>
          <a:p>
            <a:pPr algn="l"/>
            <a:r>
              <a:rPr sz="2600" b="1" i="0">
                <a:solidFill>
                  <a:srgbClr val="2A78D6"/>
                </a:solidFill>
                <a:latin typeface="Calibri"/>
              </a:rPr>
              <a:t>6 tables</a:t>
            </a:r>
          </a:p>
        </p:txBody>
      </p:sp>
      <p:sp>
        <p:nvSpPr>
          <p:cNvPr id="18" name="TextBox 17"/>
          <p:cNvSpPr txBox="1"/>
          <p:nvPr/>
        </p:nvSpPr>
        <p:spPr>
          <a:xfrm>
            <a:off x="5285231" y="2834640"/>
            <a:ext cx="1600200" cy="1097280"/>
          </a:xfrm>
          <a:prstGeom prst="rect">
            <a:avLst/>
          </a:prstGeom>
          <a:noFill/>
        </p:spPr>
        <p:txBody>
          <a:bodyPr wrap="square" lIns="0" rIns="0" tIns="0" bIns="0" anchor="t">
            <a:spAutoFit/>
          </a:bodyPr>
          <a:lstStyle/>
          <a:p>
            <a:pPr algn="l"/>
            <a:r>
              <a:rPr sz="1400" b="0" i="0">
                <a:solidFill>
                  <a:srgbClr val="1F2937"/>
                </a:solidFill>
                <a:latin typeface="Calibri"/>
              </a:rPr>
              <a:t>reliées : régions, communes, stations, bornes…</a:t>
            </a:r>
          </a:p>
        </p:txBody>
      </p:sp>
      <p:sp>
        <p:nvSpPr>
          <p:cNvPr id="19" name="Chevron 18"/>
          <p:cNvSpPr/>
          <p:nvPr/>
        </p:nvSpPr>
        <p:spPr>
          <a:xfrm>
            <a:off x="7123175" y="2606040"/>
            <a:ext cx="201168" cy="310896"/>
          </a:xfrm>
          <a:prstGeom prst="chevron">
            <a:avLst/>
          </a:prstGeom>
          <a:solidFill>
            <a:srgbClr val="5B63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79207" y="1554480"/>
            <a:ext cx="1965960" cy="242316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62087" y="1737360"/>
            <a:ext cx="1600200" cy="411480"/>
          </a:xfrm>
          <a:prstGeom prst="rect">
            <a:avLst/>
          </a:prstGeom>
          <a:noFill/>
        </p:spPr>
        <p:txBody>
          <a:bodyPr wrap="square" lIns="0" rIns="0" tIns="0" bIns="0" anchor="t">
            <a:spAutoFit/>
          </a:bodyPr>
          <a:lstStyle/>
          <a:p>
            <a:pPr algn="l"/>
            <a:r>
              <a:rPr sz="1200" b="1" i="0">
                <a:solidFill>
                  <a:srgbClr val="5B6370"/>
                </a:solidFill>
                <a:latin typeface="Calibri"/>
              </a:rPr>
              <a:t>API</a:t>
            </a:r>
          </a:p>
        </p:txBody>
      </p:sp>
      <p:sp>
        <p:nvSpPr>
          <p:cNvPr id="22" name="TextBox 21"/>
          <p:cNvSpPr txBox="1"/>
          <p:nvPr/>
        </p:nvSpPr>
        <p:spPr>
          <a:xfrm>
            <a:off x="7562087" y="2148840"/>
            <a:ext cx="1600200" cy="685800"/>
          </a:xfrm>
          <a:prstGeom prst="rect">
            <a:avLst/>
          </a:prstGeom>
          <a:noFill/>
        </p:spPr>
        <p:txBody>
          <a:bodyPr wrap="square" lIns="0" rIns="0" tIns="0" bIns="0" anchor="t">
            <a:spAutoFit/>
          </a:bodyPr>
          <a:lstStyle/>
          <a:p>
            <a:pPr algn="l"/>
            <a:r>
              <a:rPr sz="2600" b="1" i="0">
                <a:solidFill>
                  <a:srgbClr val="EB6834"/>
                </a:solidFill>
                <a:latin typeface="Calibri"/>
              </a:rPr>
              <a:t>Un guichet</a:t>
            </a:r>
          </a:p>
        </p:txBody>
      </p:sp>
      <p:sp>
        <p:nvSpPr>
          <p:cNvPr id="23" name="TextBox 22"/>
          <p:cNvSpPr txBox="1"/>
          <p:nvPr/>
        </p:nvSpPr>
        <p:spPr>
          <a:xfrm>
            <a:off x="7562087" y="2834640"/>
            <a:ext cx="1600200" cy="1097280"/>
          </a:xfrm>
          <a:prstGeom prst="rect">
            <a:avLst/>
          </a:prstGeom>
          <a:noFill/>
        </p:spPr>
        <p:txBody>
          <a:bodyPr wrap="square" lIns="0" rIns="0" tIns="0" bIns="0" anchor="t">
            <a:spAutoFit/>
          </a:bodyPr>
          <a:lstStyle/>
          <a:p>
            <a:pPr algn="l"/>
            <a:r>
              <a:rPr sz="1400" b="0" i="0">
                <a:solidFill>
                  <a:srgbClr val="1F2937"/>
                </a:solidFill>
                <a:latin typeface="Calibri"/>
              </a:rPr>
              <a:t>consulter : ouvert à tous ; modifier : réservé, avec une clé</a:t>
            </a:r>
          </a:p>
        </p:txBody>
      </p:sp>
      <p:sp>
        <p:nvSpPr>
          <p:cNvPr id="24" name="Chevron 23"/>
          <p:cNvSpPr/>
          <p:nvPr/>
        </p:nvSpPr>
        <p:spPr>
          <a:xfrm>
            <a:off x="9400032" y="2606040"/>
            <a:ext cx="201168" cy="310896"/>
          </a:xfrm>
          <a:prstGeom prst="chevron">
            <a:avLst/>
          </a:prstGeom>
          <a:solidFill>
            <a:srgbClr val="5B63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656063" y="1554480"/>
            <a:ext cx="1965960" cy="242316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38943" y="1737360"/>
            <a:ext cx="1600200" cy="411480"/>
          </a:xfrm>
          <a:prstGeom prst="rect">
            <a:avLst/>
          </a:prstGeom>
          <a:noFill/>
        </p:spPr>
        <p:txBody>
          <a:bodyPr wrap="square" lIns="0" rIns="0" tIns="0" bIns="0" anchor="t">
            <a:spAutoFit/>
          </a:bodyPr>
          <a:lstStyle/>
          <a:p>
            <a:pPr algn="l"/>
            <a:r>
              <a:rPr sz="1200" b="1" i="0">
                <a:solidFill>
                  <a:srgbClr val="5B6370"/>
                </a:solidFill>
                <a:latin typeface="Calibri"/>
              </a:rPr>
              <a:t>RÉSULTATS</a:t>
            </a:r>
          </a:p>
        </p:txBody>
      </p:sp>
      <p:sp>
        <p:nvSpPr>
          <p:cNvPr id="27" name="TextBox 26"/>
          <p:cNvSpPr txBox="1"/>
          <p:nvPr/>
        </p:nvSpPr>
        <p:spPr>
          <a:xfrm>
            <a:off x="9838943" y="2148840"/>
            <a:ext cx="1600200" cy="685800"/>
          </a:xfrm>
          <a:prstGeom prst="rect">
            <a:avLst/>
          </a:prstGeom>
          <a:noFill/>
        </p:spPr>
        <p:txBody>
          <a:bodyPr wrap="square" lIns="0" rIns="0" tIns="0" bIns="0" anchor="t">
            <a:spAutoFit/>
          </a:bodyPr>
          <a:lstStyle/>
          <a:p>
            <a:pPr algn="l"/>
            <a:r>
              <a:rPr sz="2600" b="1" i="0">
                <a:solidFill>
                  <a:srgbClr val="E34948"/>
                </a:solidFill>
                <a:latin typeface="Calibri"/>
              </a:rPr>
              <a:t>3 usages</a:t>
            </a:r>
          </a:p>
        </p:txBody>
      </p:sp>
      <p:sp>
        <p:nvSpPr>
          <p:cNvPr id="28" name="TextBox 27"/>
          <p:cNvSpPr txBox="1"/>
          <p:nvPr/>
        </p:nvSpPr>
        <p:spPr>
          <a:xfrm>
            <a:off x="9838943" y="2834640"/>
            <a:ext cx="1600200" cy="1097280"/>
          </a:xfrm>
          <a:prstGeom prst="rect">
            <a:avLst/>
          </a:prstGeom>
          <a:noFill/>
        </p:spPr>
        <p:txBody>
          <a:bodyPr wrap="square" lIns="0" rIns="0" tIns="0" bIns="0" anchor="t">
            <a:spAutoFit/>
          </a:bodyPr>
          <a:lstStyle/>
          <a:p>
            <a:pPr algn="l"/>
            <a:r>
              <a:rPr sz="1400" b="0" i="0">
                <a:solidFill>
                  <a:srgbClr val="1F2937"/>
                </a:solidFill>
                <a:latin typeface="Calibri"/>
              </a:rPr>
              <a:t>tableau de bord, modèle de prédiction, typologie des stations</a:t>
            </a:r>
          </a:p>
        </p:txBody>
      </p:sp>
      <p:sp>
        <p:nvSpPr>
          <p:cNvPr id="29" name="Rounded Rectangle 28"/>
          <p:cNvSpPr/>
          <p:nvPr/>
        </p:nvSpPr>
        <p:spPr>
          <a:xfrm>
            <a:off x="548640" y="4206240"/>
            <a:ext cx="11109960" cy="201168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389120"/>
            <a:ext cx="5120640" cy="365760"/>
          </a:xfrm>
          <a:prstGeom prst="rect">
            <a:avLst/>
          </a:prstGeom>
          <a:noFill/>
        </p:spPr>
        <p:txBody>
          <a:bodyPr wrap="square" lIns="0" rIns="0" tIns="0" bIns="0" anchor="t">
            <a:spAutoFit/>
          </a:bodyPr>
          <a:lstStyle/>
          <a:p>
            <a:pPr algn="l"/>
            <a:r>
              <a:rPr sz="1600" b="1" i="0">
                <a:solidFill>
                  <a:srgbClr val="CADCFC"/>
                </a:solidFill>
                <a:latin typeface="Calibri"/>
              </a:rPr>
              <a:t>Consulter : ouvert à tous, sans clé</a:t>
            </a:r>
          </a:p>
        </p:txBody>
      </p:sp>
      <p:sp>
        <p:nvSpPr>
          <p:cNvPr id="31" name="TextBox 30"/>
          <p:cNvSpPr txBox="1"/>
          <p:nvPr/>
        </p:nvSpPr>
        <p:spPr>
          <a:xfrm>
            <a:off x="868680" y="4800600"/>
            <a:ext cx="5120640" cy="1371600"/>
          </a:xfrm>
          <a:prstGeom prst="rect">
            <a:avLst/>
          </a:prstGeom>
          <a:noFill/>
        </p:spPr>
        <p:txBody>
          <a:bodyPr wrap="square" lIns="0" rIns="0" tIns="0" bIns="0" anchor="t">
            <a:spAutoFit/>
          </a:bodyPr>
          <a:lstStyle/>
          <a:p>
            <a:pPr algn="l">
              <a:spcAft>
                <a:spcPts val="800"/>
              </a:spcAft>
            </a:pPr>
            <a:r>
              <a:rPr sz="1500" b="0" i="0">
                <a:solidFill>
                  <a:srgbClr val="FFFFFF"/>
                </a:solidFill>
                <a:latin typeface="Calibri"/>
              </a:rPr>
              <a:t>Chiffres clés et déserts</a:t>
            </a:r>
          </a:p>
          <a:p>
            <a:pPr algn="l">
              <a:spcAft>
                <a:spcPts val="800"/>
              </a:spcAft>
            </a:pPr>
            <a:r>
              <a:rPr sz="1200" b="0" i="0">
                <a:solidFill>
                  <a:srgbClr val="CADCFC"/>
                </a:solidFill>
                <a:latin typeface="Calibri"/>
              </a:rPr>
              <a:t>GET /stats, /deserts</a:t>
            </a:r>
          </a:p>
          <a:p>
            <a:pPr algn="l">
              <a:spcAft>
                <a:spcPts val="800"/>
              </a:spcAft>
            </a:pPr>
            <a:r>
              <a:rPr sz="1500" b="0" i="0">
                <a:solidFill>
                  <a:srgbClr val="FFFFFF"/>
                </a:solidFill>
                <a:latin typeface="Calibri"/>
              </a:rPr>
              <a:t>Communes, stations, bornes</a:t>
            </a:r>
          </a:p>
          <a:p>
            <a:pPr algn="l"/>
            <a:r>
              <a:rPr sz="1200" b="0" i="0">
                <a:solidFill>
                  <a:srgbClr val="CADCFC"/>
                </a:solidFill>
                <a:latin typeface="Calibri"/>
              </a:rPr>
              <a:t>GET /communes, /stations, /points‑de‑charge</a:t>
            </a:r>
          </a:p>
        </p:txBody>
      </p:sp>
      <p:sp>
        <p:nvSpPr>
          <p:cNvPr id="32" name="TextBox 31"/>
          <p:cNvSpPr txBox="1"/>
          <p:nvPr/>
        </p:nvSpPr>
        <p:spPr>
          <a:xfrm>
            <a:off x="6400800" y="4389120"/>
            <a:ext cx="5120640" cy="365760"/>
          </a:xfrm>
          <a:prstGeom prst="rect">
            <a:avLst/>
          </a:prstGeom>
          <a:noFill/>
        </p:spPr>
        <p:txBody>
          <a:bodyPr wrap="square" lIns="0" rIns="0" tIns="0" bIns="0" anchor="t">
            <a:spAutoFit/>
          </a:bodyPr>
          <a:lstStyle/>
          <a:p>
            <a:pPr algn="l"/>
            <a:r>
              <a:rPr sz="1600" b="1" i="0">
                <a:solidFill>
                  <a:srgbClr val="F6B89E"/>
                </a:solidFill>
                <a:latin typeface="Calibri"/>
              </a:rPr>
              <a:t>Modifier : réservé, avec une clé</a:t>
            </a:r>
          </a:p>
        </p:txBody>
      </p:sp>
      <p:sp>
        <p:nvSpPr>
          <p:cNvPr id="33" name="TextBox 32"/>
          <p:cNvSpPr txBox="1"/>
          <p:nvPr/>
        </p:nvSpPr>
        <p:spPr>
          <a:xfrm>
            <a:off x="6400800" y="4800600"/>
            <a:ext cx="5120640" cy="1371600"/>
          </a:xfrm>
          <a:prstGeom prst="rect">
            <a:avLst/>
          </a:prstGeom>
          <a:noFill/>
        </p:spPr>
        <p:txBody>
          <a:bodyPr wrap="square" lIns="0" rIns="0" tIns="0" bIns="0" anchor="t">
            <a:spAutoFit/>
          </a:bodyPr>
          <a:lstStyle/>
          <a:p>
            <a:pPr algn="l">
              <a:spcAft>
                <a:spcPts val="800"/>
              </a:spcAft>
            </a:pPr>
            <a:r>
              <a:rPr sz="1500" b="0" i="0">
                <a:solidFill>
                  <a:srgbClr val="FFFFFF"/>
                </a:solidFill>
                <a:latin typeface="Calibri"/>
              </a:rPr>
              <a:t>Ajouter, remplacer ou corriger une borne</a:t>
            </a:r>
          </a:p>
          <a:p>
            <a:pPr algn="l">
              <a:spcAft>
                <a:spcPts val="800"/>
              </a:spcAft>
            </a:pPr>
            <a:r>
              <a:rPr sz="1200" b="0" i="0">
                <a:solidFill>
                  <a:srgbClr val="CADCFC"/>
                </a:solidFill>
                <a:latin typeface="Calibri"/>
              </a:rPr>
              <a:t>POST, PUT, PATCH /points‑de‑charge</a:t>
            </a:r>
          </a:p>
          <a:p>
            <a:pPr algn="l">
              <a:spcAft>
                <a:spcPts val="800"/>
              </a:spcAft>
            </a:pPr>
            <a:r>
              <a:rPr sz="1500" b="0" i="0">
                <a:solidFill>
                  <a:srgbClr val="FFFFFF"/>
                </a:solidFill>
                <a:latin typeface="Calibri"/>
              </a:rPr>
              <a:t>Supprimer une borne</a:t>
            </a:r>
          </a:p>
          <a:p>
            <a:pPr algn="l"/>
            <a:r>
              <a:rPr sz="1200" b="0" i="0">
                <a:solidFill>
                  <a:srgbClr val="CADCFC"/>
                </a:solidFill>
                <a:latin typeface="Calibri"/>
              </a:rPr>
              <a:t>DELETE /points‑de‑charge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411480"/>
            <a:ext cx="11064240" cy="868680"/>
          </a:xfrm>
          <a:prstGeom prst="rect">
            <a:avLst/>
          </a:prstGeom>
          <a:noFill/>
        </p:spPr>
        <p:txBody>
          <a:bodyPr wrap="square" lIns="0" rIns="0" tIns="0" bIns="0" anchor="ctr">
            <a:spAutoFit/>
          </a:bodyPr>
          <a:lstStyle/>
          <a:p>
            <a:pPr algn="l"/>
            <a:r>
              <a:rPr sz="3200" b="1" i="0">
                <a:solidFill>
                  <a:srgbClr val="FFFFFF"/>
                </a:solidFill>
                <a:latin typeface="Cambria"/>
              </a:rPr>
              <a:t>Ce que disent les données, et ce qu'elles ne disent pas</a:t>
            </a:r>
          </a:p>
        </p:txBody>
      </p:sp>
      <p:sp>
        <p:nvSpPr>
          <p:cNvPr id="3" name="TextBox 2"/>
          <p:cNvSpPr txBox="1"/>
          <p:nvPr/>
        </p:nvSpPr>
        <p:spPr>
          <a:xfrm>
            <a:off x="548640" y="1600200"/>
            <a:ext cx="5394960" cy="457200"/>
          </a:xfrm>
          <a:prstGeom prst="rect">
            <a:avLst/>
          </a:prstGeom>
          <a:noFill/>
        </p:spPr>
        <p:txBody>
          <a:bodyPr wrap="square" lIns="0" rIns="0" tIns="0" bIns="0" anchor="t">
            <a:spAutoFit/>
          </a:bodyPr>
          <a:lstStyle/>
          <a:p>
            <a:pPr algn="l"/>
            <a:r>
              <a:rPr sz="1600" b="1" i="0">
                <a:solidFill>
                  <a:srgbClr val="CADCFC"/>
                </a:solidFill>
                <a:latin typeface="Calibri"/>
              </a:rPr>
              <a:t>SOLIDE</a:t>
            </a:r>
          </a:p>
        </p:txBody>
      </p:sp>
      <p:sp>
        <p:nvSpPr>
          <p:cNvPr id="4" name="TextBox 3"/>
          <p:cNvSpPr txBox="1"/>
          <p:nvPr/>
        </p:nvSpPr>
        <p:spPr>
          <a:xfrm>
            <a:off x="548640" y="2148840"/>
            <a:ext cx="5394960" cy="2743200"/>
          </a:xfrm>
          <a:prstGeom prst="rect">
            <a:avLst/>
          </a:prstGeom>
          <a:noFill/>
        </p:spPr>
        <p:txBody>
          <a:bodyPr wrap="square" lIns="0" rIns="0" tIns="0" bIns="0" anchor="t">
            <a:spAutoFit/>
          </a:bodyPr>
          <a:lstStyle/>
          <a:p>
            <a:pPr algn="l" marL="285750" indent="-285750">
              <a:spcAft>
                <a:spcPts val="800"/>
              </a:spcAft>
              <a:buChar char="•"/>
            </a:pPr>
            <a:r>
              <a:rPr sz="1800" b="0" i="0">
                <a:solidFill>
                  <a:srgbClr val="FFFFFF"/>
                </a:solidFill>
                <a:latin typeface="Calibri"/>
              </a:rPr>
              <a:t>Où sont les déserts de recharge</a:t>
            </a:r>
          </a:p>
          <a:p>
            <a:pPr algn="l" marL="285750" indent="-285750">
              <a:spcAft>
                <a:spcPts val="800"/>
              </a:spcAft>
              <a:buChar char="•"/>
            </a:pPr>
            <a:r>
              <a:rPr sz="1800" b="0" i="0">
                <a:solidFill>
                  <a:srgbClr val="FFFFFF"/>
                </a:solidFill>
                <a:latin typeface="Calibri"/>
              </a:rPr>
              <a:t>Qui manque de recharge rapide</a:t>
            </a:r>
          </a:p>
          <a:p>
            <a:pPr algn="l" marL="285750" indent="-285750">
              <a:buChar char="•"/>
            </a:pPr>
            <a:r>
              <a:rPr sz="1800" b="0" i="0">
                <a:solidFill>
                  <a:srgbClr val="FFFFFF"/>
                </a:solidFill>
                <a:latin typeface="Calibri"/>
              </a:rPr>
              <a:t>Le déploiement s'accélère</a:t>
            </a:r>
          </a:p>
        </p:txBody>
      </p:sp>
      <p:sp>
        <p:nvSpPr>
          <p:cNvPr id="5" name="TextBox 4"/>
          <p:cNvSpPr txBox="1"/>
          <p:nvPr/>
        </p:nvSpPr>
        <p:spPr>
          <a:xfrm>
            <a:off x="6172200" y="1600200"/>
            <a:ext cx="5394960" cy="457200"/>
          </a:xfrm>
          <a:prstGeom prst="rect">
            <a:avLst/>
          </a:prstGeom>
          <a:noFill/>
        </p:spPr>
        <p:txBody>
          <a:bodyPr wrap="square" lIns="0" rIns="0" tIns="0" bIns="0" anchor="t">
            <a:spAutoFit/>
          </a:bodyPr>
          <a:lstStyle/>
          <a:p>
            <a:pPr algn="l"/>
            <a:r>
              <a:rPr sz="1600" b="1" i="0">
                <a:solidFill>
                  <a:srgbClr val="F6B89E"/>
                </a:solidFill>
                <a:latin typeface="Calibri"/>
              </a:rPr>
              <a:t>À NUANCER</a:t>
            </a:r>
          </a:p>
        </p:txBody>
      </p:sp>
      <p:sp>
        <p:nvSpPr>
          <p:cNvPr id="6" name="TextBox 5"/>
          <p:cNvSpPr txBox="1"/>
          <p:nvPr/>
        </p:nvSpPr>
        <p:spPr>
          <a:xfrm>
            <a:off x="6172200" y="2148840"/>
            <a:ext cx="5394960" cy="2743200"/>
          </a:xfrm>
          <a:prstGeom prst="rect">
            <a:avLst/>
          </a:prstGeom>
          <a:noFill/>
        </p:spPr>
        <p:txBody>
          <a:bodyPr wrap="square" lIns="0" rIns="0" tIns="0" bIns="0" anchor="t">
            <a:spAutoFit/>
          </a:bodyPr>
          <a:lstStyle/>
          <a:p>
            <a:pPr algn="l" marL="285750" indent="-285750">
              <a:spcAft>
                <a:spcPts val="800"/>
              </a:spcAft>
              <a:buChar char="•"/>
            </a:pPr>
            <a:r>
              <a:rPr sz="1800" b="0" i="0">
                <a:solidFill>
                  <a:srgbClr val="FFFFFF"/>
                </a:solidFill>
                <a:latin typeface="Calibri"/>
              </a:rPr>
              <a:t>Les bornes, pas leur usage : on ne sait pas où elles sont saturées</a:t>
            </a:r>
          </a:p>
          <a:p>
            <a:pPr algn="l" marL="285750" indent="-285750">
              <a:spcAft>
                <a:spcPts val="800"/>
              </a:spcAft>
              <a:buChar char="•"/>
            </a:pPr>
            <a:r>
              <a:rPr sz="1800" b="0" i="0">
                <a:solidFill>
                  <a:srgbClr val="FFFFFF"/>
                </a:solidFill>
                <a:latin typeface="Calibri"/>
              </a:rPr>
              <a:t>Le fichier public compte 17 % de bornes de moins que le baromètre national</a:t>
            </a:r>
          </a:p>
          <a:p>
            <a:pPr algn="l" marL="285750" indent="-285750">
              <a:buChar char="•"/>
            </a:pPr>
            <a:r>
              <a:rPr sz="1800" b="0" i="0">
                <a:solidFill>
                  <a:srgbClr val="FFFFFF"/>
                </a:solidFill>
                <a:latin typeface="Calibri"/>
              </a:rPr>
              <a:t>Distances à vol d'oiseau, depuis le centre de la commune</a:t>
            </a:r>
          </a:p>
        </p:txBody>
      </p:sp>
      <p:sp>
        <p:nvSpPr>
          <p:cNvPr id="7" name="TextBox 6"/>
          <p:cNvSpPr txBox="1"/>
          <p:nvPr/>
        </p:nvSpPr>
        <p:spPr>
          <a:xfrm>
            <a:off x="548640" y="5120640"/>
            <a:ext cx="11064240" cy="822960"/>
          </a:xfrm>
          <a:prstGeom prst="rect">
            <a:avLst/>
          </a:prstGeom>
          <a:noFill/>
        </p:spPr>
        <p:txBody>
          <a:bodyPr wrap="square" lIns="0" rIns="0" tIns="0" bIns="0" anchor="t">
            <a:spAutoFit/>
          </a:bodyPr>
          <a:lstStyle/>
          <a:p>
            <a:pPr algn="l"/>
            <a:r>
              <a:rPr sz="3200" b="1" i="0">
                <a:solidFill>
                  <a:srgbClr val="FFFFFF"/>
                </a:solidFill>
                <a:latin typeface="Cambria"/>
              </a:rPr>
              <a:t>Merci. Des questions ?</a:t>
            </a:r>
          </a:p>
        </p:txBody>
      </p:sp>
      <p:sp>
        <p:nvSpPr>
          <p:cNvPr id="8" name="TextBox 7"/>
          <p:cNvSpPr txBox="1"/>
          <p:nvPr/>
        </p:nvSpPr>
        <p:spPr>
          <a:xfrm>
            <a:off x="11155680" y="6400800"/>
            <a:ext cx="502920" cy="274320"/>
          </a:xfrm>
          <a:prstGeom prst="rect">
            <a:avLst/>
          </a:prstGeom>
          <a:noFill/>
        </p:spPr>
        <p:txBody>
          <a:bodyPr wrap="square" lIns="0" rIns="0" tIns="0" bIns="0" anchor="t">
            <a:spAutoFit/>
          </a:bodyPr>
          <a:lstStyle/>
          <a:p>
            <a:pPr algn="r"/>
            <a:r>
              <a:rPr sz="1000" b="0" i="0">
                <a:solidFill>
                  <a:srgbClr val="CADCFC"/>
                </a:solidFill>
                <a:latin typeface="Calibr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